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handoutMasterIdLst>
    <p:handoutMasterId r:id="rId89"/>
  </p:handoutMasterIdLst>
  <p:sldIdLst>
    <p:sldId id="287" r:id="rId2"/>
    <p:sldId id="291" r:id="rId3"/>
    <p:sldId id="299" r:id="rId4"/>
    <p:sldId id="300" r:id="rId5"/>
    <p:sldId id="301" r:id="rId6"/>
    <p:sldId id="303" r:id="rId7"/>
    <p:sldId id="304" r:id="rId8"/>
    <p:sldId id="349" r:id="rId9"/>
    <p:sldId id="350" r:id="rId10"/>
    <p:sldId id="305" r:id="rId11"/>
    <p:sldId id="306" r:id="rId12"/>
    <p:sldId id="307" r:id="rId13"/>
    <p:sldId id="308" r:id="rId14"/>
    <p:sldId id="316" r:id="rId15"/>
    <p:sldId id="317" r:id="rId16"/>
    <p:sldId id="309" r:id="rId17"/>
    <p:sldId id="310" r:id="rId18"/>
    <p:sldId id="311" r:id="rId19"/>
    <p:sldId id="312" r:id="rId20"/>
    <p:sldId id="313" r:id="rId21"/>
    <p:sldId id="314" r:id="rId22"/>
    <p:sldId id="315" r:id="rId23"/>
    <p:sldId id="322" r:id="rId24"/>
    <p:sldId id="324" r:id="rId25"/>
    <p:sldId id="325" r:id="rId26"/>
    <p:sldId id="326" r:id="rId27"/>
    <p:sldId id="327" r:id="rId28"/>
    <p:sldId id="328" r:id="rId29"/>
    <p:sldId id="329" r:id="rId30"/>
    <p:sldId id="330" r:id="rId31"/>
    <p:sldId id="331" r:id="rId32"/>
    <p:sldId id="366" r:id="rId33"/>
    <p:sldId id="352" r:id="rId34"/>
    <p:sldId id="353" r:id="rId35"/>
    <p:sldId id="356" r:id="rId36"/>
    <p:sldId id="355" r:id="rId37"/>
    <p:sldId id="358" r:id="rId38"/>
    <p:sldId id="357" r:id="rId39"/>
    <p:sldId id="359" r:id="rId40"/>
    <p:sldId id="360" r:id="rId41"/>
    <p:sldId id="362" r:id="rId42"/>
    <p:sldId id="363" r:id="rId43"/>
    <p:sldId id="364" r:id="rId44"/>
    <p:sldId id="365" r:id="rId45"/>
    <p:sldId id="351" r:id="rId46"/>
    <p:sldId id="332" r:id="rId47"/>
    <p:sldId id="333" r:id="rId48"/>
    <p:sldId id="334" r:id="rId49"/>
    <p:sldId id="335" r:id="rId50"/>
    <p:sldId id="336" r:id="rId51"/>
    <p:sldId id="337" r:id="rId52"/>
    <p:sldId id="338" r:id="rId53"/>
    <p:sldId id="339" r:id="rId54"/>
    <p:sldId id="340" r:id="rId55"/>
    <p:sldId id="342" r:id="rId56"/>
    <p:sldId id="344" r:id="rId57"/>
    <p:sldId id="369" r:id="rId58"/>
    <p:sldId id="370" r:id="rId59"/>
    <p:sldId id="371" r:id="rId60"/>
    <p:sldId id="372" r:id="rId61"/>
    <p:sldId id="373" r:id="rId62"/>
    <p:sldId id="374" r:id="rId63"/>
    <p:sldId id="375" r:id="rId64"/>
    <p:sldId id="376" r:id="rId65"/>
    <p:sldId id="377" r:id="rId66"/>
    <p:sldId id="378" r:id="rId67"/>
    <p:sldId id="379" r:id="rId68"/>
    <p:sldId id="380" r:id="rId69"/>
    <p:sldId id="381" r:id="rId70"/>
    <p:sldId id="382" r:id="rId71"/>
    <p:sldId id="383" r:id="rId72"/>
    <p:sldId id="384" r:id="rId73"/>
    <p:sldId id="385" r:id="rId74"/>
    <p:sldId id="386" r:id="rId75"/>
    <p:sldId id="319" r:id="rId76"/>
    <p:sldId id="320" r:id="rId77"/>
    <p:sldId id="321" r:id="rId78"/>
    <p:sldId id="345" r:id="rId79"/>
    <p:sldId id="346" r:id="rId80"/>
    <p:sldId id="347" r:id="rId81"/>
    <p:sldId id="348" r:id="rId82"/>
    <p:sldId id="323" r:id="rId83"/>
    <p:sldId id="341" r:id="rId84"/>
    <p:sldId id="367" r:id="rId85"/>
    <p:sldId id="368" r:id="rId86"/>
    <p:sldId id="289" r:id="rId8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C6D3084-F03B-4B77-9C58-8C8D4D1FA3DF}">
          <p14:sldIdLst>
            <p14:sldId id="287"/>
            <p14:sldId id="291"/>
            <p14:sldId id="299"/>
            <p14:sldId id="300"/>
            <p14:sldId id="301"/>
            <p14:sldId id="303"/>
            <p14:sldId id="304"/>
            <p14:sldId id="349"/>
            <p14:sldId id="350"/>
            <p14:sldId id="305"/>
            <p14:sldId id="306"/>
            <p14:sldId id="307"/>
            <p14:sldId id="308"/>
            <p14:sldId id="316"/>
            <p14:sldId id="317"/>
            <p14:sldId id="309"/>
            <p14:sldId id="310"/>
            <p14:sldId id="311"/>
            <p14:sldId id="312"/>
            <p14:sldId id="313"/>
            <p14:sldId id="314"/>
          </p14:sldIdLst>
        </p14:section>
        <p14:section name="Sección sin título" id="{E59BDC0C-BD32-4E79-A6D0-D32A36921EC7}">
          <p14:sldIdLst>
            <p14:sldId id="315"/>
            <p14:sldId id="322"/>
            <p14:sldId id="324"/>
            <p14:sldId id="325"/>
            <p14:sldId id="326"/>
            <p14:sldId id="327"/>
            <p14:sldId id="328"/>
            <p14:sldId id="329"/>
            <p14:sldId id="330"/>
            <p14:sldId id="331"/>
            <p14:sldId id="366"/>
            <p14:sldId id="352"/>
            <p14:sldId id="353"/>
            <p14:sldId id="356"/>
            <p14:sldId id="355"/>
            <p14:sldId id="358"/>
            <p14:sldId id="357"/>
            <p14:sldId id="359"/>
            <p14:sldId id="360"/>
            <p14:sldId id="362"/>
            <p14:sldId id="363"/>
            <p14:sldId id="364"/>
            <p14:sldId id="365"/>
            <p14:sldId id="351"/>
            <p14:sldId id="332"/>
            <p14:sldId id="333"/>
            <p14:sldId id="334"/>
            <p14:sldId id="335"/>
            <p14:sldId id="336"/>
            <p14:sldId id="337"/>
            <p14:sldId id="338"/>
            <p14:sldId id="339"/>
            <p14:sldId id="340"/>
            <p14:sldId id="342"/>
            <p14:sldId id="344"/>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19"/>
            <p14:sldId id="320"/>
            <p14:sldId id="321"/>
            <p14:sldId id="345"/>
            <p14:sldId id="346"/>
            <p14:sldId id="347"/>
            <p14:sldId id="348"/>
            <p14:sldId id="323"/>
            <p14:sldId id="341"/>
            <p14:sldId id="367"/>
            <p14:sldId id="368"/>
            <p14:sldId id="289"/>
          </p14:sldIdLst>
        </p14:section>
      </p14:sectionLst>
    </p:ext>
    <p:ext uri="{EFAFB233-063F-42B5-8137-9DF3F51BA10A}">
      <p15:sldGuideLst xmlns:p15="http://schemas.microsoft.com/office/powerpoint/2012/main">
        <p15:guide id="1" orient="horz" pos="1071" userDrawn="1">
          <p15:clr>
            <a:srgbClr val="A4A3A4"/>
          </p15:clr>
        </p15:guide>
        <p15:guide id="2" pos="41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002F"/>
    <a:srgbClr val="C103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69" autoAdjust="0"/>
    <p:restoredTop sz="95906"/>
  </p:normalViewPr>
  <p:slideViewPr>
    <p:cSldViewPr snapToGrid="0">
      <p:cViewPr varScale="1">
        <p:scale>
          <a:sx n="82" d="100"/>
          <a:sy n="82" d="100"/>
        </p:scale>
        <p:origin x="264" y="72"/>
      </p:cViewPr>
      <p:guideLst>
        <p:guide orient="horz" pos="1071"/>
        <p:guide pos="4112"/>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09A02B-56D9-4DF4-9BE0-3F6FEA960F7A}" type="datetimeFigureOut">
              <a:rPr lang="es-ES" smtClean="0"/>
              <a:t>23/10/2025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492BE4-C7A9-48CC-A29C-EAF026290BE2}" type="slidenum">
              <a:rPr lang="es-ES" smtClean="0"/>
              <a:t>‹Nº›</a:t>
            </a:fld>
            <a:endParaRPr lang="es-ES"/>
          </a:p>
        </p:txBody>
      </p:sp>
    </p:spTree>
    <p:extLst>
      <p:ext uri="{BB962C8B-B14F-4D97-AF65-F5344CB8AC3E}">
        <p14:creationId xmlns:p14="http://schemas.microsoft.com/office/powerpoint/2010/main" val="1839846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8F67BA-2E0C-6249-ADAE-C684EBC071E3}" type="datetimeFigureOut">
              <a:rPr lang="es-ES_tradnl" smtClean="0"/>
              <a:t>23/10/2025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4F875-0603-3A4B-9548-62CD0D21EBA1}" type="slidenum">
              <a:rPr lang="es-ES_tradnl" smtClean="0"/>
              <a:t>‹Nº›</a:t>
            </a:fld>
            <a:endParaRPr lang="es-ES_tradnl"/>
          </a:p>
        </p:txBody>
      </p:sp>
    </p:spTree>
    <p:extLst>
      <p:ext uri="{BB962C8B-B14F-4D97-AF65-F5344CB8AC3E}">
        <p14:creationId xmlns:p14="http://schemas.microsoft.com/office/powerpoint/2010/main" val="2122480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42340C9-9D59-EF47-8109-F11B09D037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27219" y="5764320"/>
            <a:ext cx="2475945" cy="835869"/>
          </a:xfrm>
          <a:prstGeom prst="rect">
            <a:avLst/>
          </a:prstGeom>
        </p:spPr>
      </p:pic>
      <p:sp>
        <p:nvSpPr>
          <p:cNvPr id="9" name="Rectángulo 8">
            <a:extLst>
              <a:ext uri="{FF2B5EF4-FFF2-40B4-BE49-F238E27FC236}">
                <a16:creationId xmlns:a16="http://schemas.microsoft.com/office/drawing/2014/main" id="{B9E32D7A-E352-F848-B53F-9F3D7744B20C}"/>
              </a:ext>
            </a:extLst>
          </p:cNvPr>
          <p:cNvSpPr/>
          <p:nvPr userDrawn="1"/>
        </p:nvSpPr>
        <p:spPr>
          <a:xfrm>
            <a:off x="0" y="0"/>
            <a:ext cx="12192000" cy="5486400"/>
          </a:xfrm>
          <a:prstGeom prst="rect">
            <a:avLst/>
          </a:prstGeom>
          <a:solidFill>
            <a:srgbClr val="C2002F"/>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1440000" tIns="1440000" rIns="1440000" bIns="1440000" rtlCol="0" anchor="ctr"/>
          <a:lstStyle/>
          <a:p>
            <a:pPr algn="ctr"/>
            <a:endParaRPr lang="es-ES" dirty="0"/>
          </a:p>
        </p:txBody>
      </p:sp>
      <p:sp>
        <p:nvSpPr>
          <p:cNvPr id="2" name="Título 1">
            <a:extLst>
              <a:ext uri="{FF2B5EF4-FFF2-40B4-BE49-F238E27FC236}">
                <a16:creationId xmlns:a16="http://schemas.microsoft.com/office/drawing/2014/main" id="{73F5D831-A8A9-3748-B7E0-A40B8D22A34E}"/>
              </a:ext>
            </a:extLst>
          </p:cNvPr>
          <p:cNvSpPr>
            <a:spLocks noGrp="1"/>
          </p:cNvSpPr>
          <p:nvPr>
            <p:ph type="title"/>
          </p:nvPr>
        </p:nvSpPr>
        <p:spPr>
          <a:xfrm>
            <a:off x="838200" y="970606"/>
            <a:ext cx="8380039" cy="3613751"/>
          </a:xfrm>
        </p:spPr>
        <p:txBody>
          <a:bodyPr/>
          <a:lstStyle>
            <a:lvl1pPr>
              <a:defRPr>
                <a:solidFill>
                  <a:schemeClr val="bg1"/>
                </a:solidFill>
              </a:defRPr>
            </a:lvl1pPr>
          </a:lstStyle>
          <a:p>
            <a:r>
              <a:rPr lang="es-ES"/>
              <a:t>Haga clic para modificar el estilo de título del patrón</a:t>
            </a:r>
            <a:endParaRPr lang="es-ES" dirty="0"/>
          </a:p>
        </p:txBody>
      </p:sp>
    </p:spTree>
    <p:extLst>
      <p:ext uri="{BB962C8B-B14F-4D97-AF65-F5344CB8AC3E}">
        <p14:creationId xmlns:p14="http://schemas.microsoft.com/office/powerpoint/2010/main" val="428777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928711"/>
            <a:ext cx="12192000" cy="924998"/>
          </a:xfrm>
          <a:prstGeom prst="rect">
            <a:avLst/>
          </a:prstGeom>
        </p:spPr>
      </p:pic>
      <p:sp>
        <p:nvSpPr>
          <p:cNvPr id="2" name="Título 1"/>
          <p:cNvSpPr>
            <a:spLocks noGrp="1"/>
          </p:cNvSpPr>
          <p:nvPr>
            <p:ph type="title"/>
          </p:nvPr>
        </p:nvSpPr>
        <p:spPr>
          <a:xfrm>
            <a:off x="530199" y="365125"/>
            <a:ext cx="11145986" cy="449383"/>
          </a:xfrm>
        </p:spPr>
        <p:txBody>
          <a:bodyPr>
            <a:normAutofit/>
          </a:bodyPr>
          <a:lstStyle>
            <a:lvl1pPr>
              <a:defRPr sz="2800"/>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530200" y="1321654"/>
            <a:ext cx="11145985" cy="4234026"/>
          </a:xfrm>
        </p:spPr>
        <p:txBody>
          <a:bodyPr/>
          <a:lstStyle>
            <a:lvl1pPr marL="228600" indent="-228600">
              <a:spcBef>
                <a:spcPts val="1600"/>
              </a:spcBef>
              <a:buClr>
                <a:schemeClr val="tx2"/>
              </a:buClr>
              <a:buFont typeface="LucidaGrande" charset="0"/>
              <a:buChar char="●"/>
              <a:defRPr sz="2000"/>
            </a:lvl1pPr>
            <a:lvl2pPr marL="685800" indent="-228600">
              <a:buClr>
                <a:schemeClr val="tx2"/>
              </a:buClr>
              <a:buFont typeface="LucidaGrande" charset="0"/>
              <a:buChar char="-"/>
              <a:defRPr sz="2000"/>
            </a:lvl2pPr>
            <a:lvl3pPr>
              <a:defRPr sz="2000"/>
            </a:lvl3pPr>
            <a:lvl4pPr marL="1600200" indent="-228600">
              <a:buFont typeface="LucidaGrande" charset="0"/>
              <a:buChar char="-"/>
              <a:defRPr sz="2000"/>
            </a:lvl4pPr>
            <a:lvl5pPr>
              <a:defRPr sz="2000"/>
            </a:lvl5pPr>
          </a:lstStyle>
          <a:p>
            <a:pPr lvl="0"/>
            <a:r>
              <a:rPr lang="es-ES"/>
              <a:t>Haga clic para modificar los estilos de texto del patrón</a:t>
            </a:r>
          </a:p>
        </p:txBody>
      </p:sp>
    </p:spTree>
    <p:extLst>
      <p:ext uri="{BB962C8B-B14F-4D97-AF65-F5344CB8AC3E}">
        <p14:creationId xmlns:p14="http://schemas.microsoft.com/office/powerpoint/2010/main" val="1664844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1E593E8-D133-4046-A5F1-D083A36C8F09}"/>
              </a:ext>
            </a:extLst>
          </p:cNvPr>
          <p:cNvSpPr/>
          <p:nvPr userDrawn="1"/>
        </p:nvSpPr>
        <p:spPr>
          <a:xfrm>
            <a:off x="0" y="0"/>
            <a:ext cx="12192000" cy="6993924"/>
          </a:xfrm>
          <a:prstGeom prst="rect">
            <a:avLst/>
          </a:prstGeom>
          <a:solidFill>
            <a:srgbClr val="C2002F"/>
          </a:solidFill>
          <a:ln>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lIns="1440000" tIns="1440000" rIns="1440000" bIns="1440000" rtlCol="0" anchor="ctr"/>
          <a:lstStyle/>
          <a:p>
            <a:pPr algn="ctr"/>
            <a:endParaRPr lang="es-ES" dirty="0"/>
          </a:p>
        </p:txBody>
      </p:sp>
      <p:pic>
        <p:nvPicPr>
          <p:cNvPr id="7" name="Imagen 6">
            <a:extLst>
              <a:ext uri="{FF2B5EF4-FFF2-40B4-BE49-F238E27FC236}">
                <a16:creationId xmlns:a16="http://schemas.microsoft.com/office/drawing/2014/main" id="{808F214B-585A-5842-A9D2-10078CBDB7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54352" y="2577730"/>
            <a:ext cx="5083296" cy="1702539"/>
          </a:xfrm>
          <a:prstGeom prst="rect">
            <a:avLst/>
          </a:prstGeom>
        </p:spPr>
      </p:pic>
    </p:spTree>
    <p:extLst>
      <p:ext uri="{BB962C8B-B14F-4D97-AF65-F5344CB8AC3E}">
        <p14:creationId xmlns:p14="http://schemas.microsoft.com/office/powerpoint/2010/main" val="9021708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ED2739-C74D-CA49-BBC2-5C36F0C10476}" type="datetime1">
              <a:rPr lang="es-ES" smtClean="0"/>
              <a:t>23/10/2025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t>Resumen de la memoria del curso 2017-2018</a:t>
            </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C2A9AA-55AA-4F14-AFC8-EF3595AA24C1}" type="slidenum">
              <a:rPr lang="es-ES" smtClean="0"/>
              <a:t>‹Nº›</a:t>
            </a:fld>
            <a:endParaRPr lang="es-ES"/>
          </a:p>
        </p:txBody>
      </p:sp>
    </p:spTree>
    <p:extLst>
      <p:ext uri="{BB962C8B-B14F-4D97-AF65-F5344CB8AC3E}">
        <p14:creationId xmlns:p14="http://schemas.microsoft.com/office/powerpoint/2010/main" val="4244223441"/>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52"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5CB57-FD69-2949-8035-B83136CBA5CD}"/>
              </a:ext>
            </a:extLst>
          </p:cNvPr>
          <p:cNvSpPr>
            <a:spLocks noGrp="1"/>
          </p:cNvSpPr>
          <p:nvPr>
            <p:ph type="title"/>
          </p:nvPr>
        </p:nvSpPr>
        <p:spPr>
          <a:xfrm>
            <a:off x="838200" y="970606"/>
            <a:ext cx="10274559" cy="3613751"/>
          </a:xfrm>
        </p:spPr>
        <p:txBody>
          <a:bodyPr/>
          <a:lstStyle/>
          <a:p>
            <a:r>
              <a:rPr lang="es-ES" dirty="0"/>
              <a:t>2. Fundamentos de JavaScript, </a:t>
            </a:r>
          </a:p>
        </p:txBody>
      </p:sp>
    </p:spTree>
    <p:extLst>
      <p:ext uri="{BB962C8B-B14F-4D97-AF65-F5344CB8AC3E}">
        <p14:creationId xmlns:p14="http://schemas.microsoft.com/office/powerpoint/2010/main" val="12667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337486-5E4D-6D23-82B7-409998F73BFA}"/>
              </a:ext>
            </a:extLst>
          </p:cNvPr>
          <p:cNvSpPr>
            <a:spLocks noGrp="1"/>
          </p:cNvSpPr>
          <p:nvPr>
            <p:ph type="title"/>
          </p:nvPr>
        </p:nvSpPr>
        <p:spPr/>
        <p:txBody>
          <a:bodyPr>
            <a:normAutofit fontScale="90000"/>
          </a:bodyPr>
          <a:lstStyle/>
          <a:p>
            <a:r>
              <a:rPr lang="es-ES" dirty="0"/>
              <a:t>Índice</a:t>
            </a:r>
          </a:p>
        </p:txBody>
      </p:sp>
      <p:sp>
        <p:nvSpPr>
          <p:cNvPr id="3" name="Marcador de contenido 2">
            <a:extLst>
              <a:ext uri="{FF2B5EF4-FFF2-40B4-BE49-F238E27FC236}">
                <a16:creationId xmlns:a16="http://schemas.microsoft.com/office/drawing/2014/main" id="{7FBBD5DC-F559-59C7-2E2B-84A7D87B114E}"/>
              </a:ext>
            </a:extLst>
          </p:cNvPr>
          <p:cNvSpPr>
            <a:spLocks noGrp="1"/>
          </p:cNvSpPr>
          <p:nvPr>
            <p:ph idx="1"/>
          </p:nvPr>
        </p:nvSpPr>
        <p:spPr>
          <a:xfrm>
            <a:off x="530200" y="1101012"/>
            <a:ext cx="11145985" cy="4454668"/>
          </a:xfrm>
        </p:spPr>
        <p:txBody>
          <a:bodyPr>
            <a:normAutofit fontScale="92500" lnSpcReduction="10000"/>
          </a:bodyPr>
          <a:lstStyle/>
          <a:p>
            <a:pPr>
              <a:buNone/>
            </a:pPr>
            <a:r>
              <a:rPr lang="es-ES" dirty="0"/>
              <a:t>2.- Fundamentos de JavaScript</a:t>
            </a:r>
          </a:p>
          <a:p>
            <a:pPr>
              <a:buNone/>
            </a:pPr>
            <a:r>
              <a:rPr lang="es-ES" dirty="0"/>
              <a:t>               2.1 - ¿Qué es JavaScript?</a:t>
            </a:r>
          </a:p>
          <a:p>
            <a:pPr>
              <a:buNone/>
            </a:pPr>
            <a:r>
              <a:rPr lang="es-ES" dirty="0"/>
              <a:t>               2.2 – ¿Cómo funciona JavaScript?</a:t>
            </a:r>
          </a:p>
          <a:p>
            <a:pPr>
              <a:buNone/>
            </a:pPr>
            <a:r>
              <a:rPr lang="es-ES" dirty="0"/>
              <a:t>               2.3 – Comenzando a codificar JavaScript</a:t>
            </a:r>
          </a:p>
          <a:p>
            <a:pPr>
              <a:buNone/>
            </a:pPr>
            <a:r>
              <a:rPr lang="es-ES" dirty="0"/>
              <a:t>               2.4 – Variables en JavaScript</a:t>
            </a:r>
          </a:p>
          <a:p>
            <a:pPr>
              <a:buNone/>
            </a:pPr>
            <a:r>
              <a:rPr lang="es-ES" dirty="0"/>
              <a:t>               2.5 – </a:t>
            </a:r>
            <a:r>
              <a:rPr lang="es-ES" dirty="0" err="1"/>
              <a:t>Arrays</a:t>
            </a:r>
            <a:r>
              <a:rPr lang="es-ES" dirty="0"/>
              <a:t> en JavaScript</a:t>
            </a:r>
          </a:p>
          <a:p>
            <a:pPr>
              <a:buNone/>
            </a:pPr>
            <a:r>
              <a:rPr lang="es-ES" dirty="0"/>
              <a:t>               2.6 – Programación funcional</a:t>
            </a:r>
          </a:p>
          <a:p>
            <a:pPr>
              <a:buNone/>
            </a:pPr>
            <a:r>
              <a:rPr lang="es-ES" dirty="0"/>
              <a:t>               2.7 – Funciones en JavaScript</a:t>
            </a:r>
          </a:p>
          <a:p>
            <a:pPr>
              <a:buNone/>
            </a:pPr>
            <a:r>
              <a:rPr lang="es-ES" dirty="0"/>
              <a:t>               2.8 – Otro tipo de estructuras en JavaScript</a:t>
            </a:r>
          </a:p>
          <a:p>
            <a:pPr>
              <a:buNone/>
            </a:pPr>
            <a:r>
              <a:rPr lang="es-ES" dirty="0"/>
              <a:t>		</a:t>
            </a:r>
          </a:p>
        </p:txBody>
      </p:sp>
    </p:spTree>
    <p:extLst>
      <p:ext uri="{BB962C8B-B14F-4D97-AF65-F5344CB8AC3E}">
        <p14:creationId xmlns:p14="http://schemas.microsoft.com/office/powerpoint/2010/main" val="2088855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2.1 – ¿Qué es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JavaScript es un lenguaje de programación que los desarrolladores utilizan para hacer páginas web interactivas. Desde actualizar fuentes de redes sociales a mostrar animaciones y mapas interactivos, las funciones de JavaScript pueden mejorar la experiencia del usuario de un sitio web. Como lenguaje de scripting del lado del servidor, se trata de una de las principales tecnologías de la </a:t>
            </a:r>
            <a:r>
              <a:rPr lang="es-ES" dirty="0" err="1"/>
              <a:t>World</a:t>
            </a:r>
            <a:r>
              <a:rPr lang="es-ES" dirty="0"/>
              <a:t> Wide Web. </a:t>
            </a:r>
          </a:p>
          <a:p>
            <a:pPr marL="0" indent="0">
              <a:buNone/>
            </a:pPr>
            <a:r>
              <a:rPr lang="es-ES" dirty="0"/>
              <a:t>- Anteriormente, las páginas web eran estáticas, similares a las páginas de un libro. Una página estática mostraba principalmente información en un diseño fijo y no todo aquello que esperamos de un sitio web moderno. JavaScript surgió como una tecnología del lado del navegador para hacer que las aplicaciones web fueran más dinámicas. Por medio de JavaScript, los navegadores eran capaces de responder a la interacción de los usuarios y cambiar la distribución del contenido en la página web.</a:t>
            </a:r>
          </a:p>
        </p:txBody>
      </p:sp>
    </p:spTree>
    <p:extLst>
      <p:ext uri="{BB962C8B-B14F-4D97-AF65-F5344CB8AC3E}">
        <p14:creationId xmlns:p14="http://schemas.microsoft.com/office/powerpoint/2010/main" val="539099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2.2 – ¿Cómo funciona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JavaScript del lado del cliente. </a:t>
            </a:r>
          </a:p>
          <a:p>
            <a:pPr marL="0" indent="0">
              <a:buNone/>
            </a:pPr>
            <a:r>
              <a:rPr lang="es-ES" dirty="0"/>
              <a:t>JavaScript del cliente se refiere a la forma en que JavaScript funciona en el navegador. En este caso, el motor de JavaScript está dentro del código del navegador. Todos los principales navegadores web incluyen sus propios motores de JavaScript incorporados.</a:t>
            </a:r>
          </a:p>
          <a:p>
            <a:pPr marL="0" indent="0">
              <a:buNone/>
            </a:pPr>
            <a:r>
              <a:rPr lang="es-ES" dirty="0"/>
              <a:t>Los desarrolladores de aplicaciones web escriben código JavaScript con diferentes funciones asociadas a varios eventos, como hacer clic con el ratón o situar el ratón sobre un elemento. Estas funciones realizan cambios en HTML y CSS.</a:t>
            </a:r>
          </a:p>
          <a:p>
            <a:pPr marL="0" indent="0">
              <a:buNone/>
            </a:pPr>
            <a:endParaRPr lang="es-ES" dirty="0"/>
          </a:p>
          <a:p>
            <a:pPr marL="0" indent="0">
              <a:buNone/>
            </a:pPr>
            <a:r>
              <a:rPr lang="es-ES" dirty="0"/>
              <a:t>- A continuación, se muestra una perspectiva general del funcionamiento de JavaScript del lado del cliente:</a:t>
            </a:r>
          </a:p>
        </p:txBody>
      </p:sp>
    </p:spTree>
    <p:extLst>
      <p:ext uri="{BB962C8B-B14F-4D97-AF65-F5344CB8AC3E}">
        <p14:creationId xmlns:p14="http://schemas.microsoft.com/office/powerpoint/2010/main" val="952640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2.2 – ¿Cómo funciona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normAutofit/>
          </a:bodyPr>
          <a:lstStyle/>
          <a:p>
            <a:pPr marL="0" indent="0">
              <a:buNone/>
            </a:pPr>
            <a:r>
              <a:rPr lang="es-ES" dirty="0"/>
              <a:t>1.   El navegador carga una página web cuando recibe una visita.</a:t>
            </a:r>
          </a:p>
          <a:p>
            <a:pPr marL="0" indent="0">
              <a:buNone/>
            </a:pPr>
            <a:r>
              <a:rPr lang="es-ES" dirty="0"/>
              <a:t>2.   Durante la carga, el navegador convierte la página y todos sus elementos, como los botones, las etiquetas y los cuadros desplegables, en una estructura de datos denominada modelo de objetos del documento (DOM).</a:t>
            </a:r>
          </a:p>
          <a:p>
            <a:pPr marL="0" indent="0">
              <a:buNone/>
            </a:pPr>
            <a:r>
              <a:rPr lang="es-ES" dirty="0"/>
              <a:t>3.   El motor JavaScript del navegador convierte el código JavaScript en código intermedio. Se trata de un código intermediario entre la sintaxis de JavaScript y la máquina.</a:t>
            </a:r>
          </a:p>
          <a:p>
            <a:pPr marL="0" indent="0">
              <a:buNone/>
            </a:pPr>
            <a:r>
              <a:rPr lang="es-ES" dirty="0"/>
              <a:t>4.   Diferentes eventos, como hacer clic con el ratón en un botón, desencadenan la ejecución del bloque de código JavaScript asociado. Posteriormente, el motor interpreta el código intermedio y realiza cambios en el DOM.</a:t>
            </a:r>
          </a:p>
          <a:p>
            <a:pPr marL="0" indent="0">
              <a:buNone/>
            </a:pPr>
            <a:r>
              <a:rPr lang="es-ES" dirty="0"/>
              <a:t>5.   El navegador muestra el nuevo DOM.</a:t>
            </a:r>
          </a:p>
        </p:txBody>
      </p:sp>
    </p:spTree>
    <p:extLst>
      <p:ext uri="{BB962C8B-B14F-4D97-AF65-F5344CB8AC3E}">
        <p14:creationId xmlns:p14="http://schemas.microsoft.com/office/powerpoint/2010/main" val="148589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Comenzando a codificar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Para empezar, tenemos que introducir en nuestro código </a:t>
            </a:r>
            <a:r>
              <a:rPr lang="es-ES" dirty="0" err="1"/>
              <a:t>html</a:t>
            </a:r>
            <a:r>
              <a:rPr lang="es-ES" dirty="0"/>
              <a:t> las etiquetas &lt;script&gt; &lt;/script&gt; dentro de las cuales irá el código JavaScript. Con estas etiquetas le estamos indicando al navegador que lo que hay entre ellas es código de JavaScript, y lo va a poder ejecutar.</a:t>
            </a:r>
          </a:p>
          <a:p>
            <a:pPr marL="0" indent="0">
              <a:buNone/>
            </a:pPr>
            <a:r>
              <a:rPr lang="es-ES" dirty="0"/>
              <a:t>- Vamos a imprimir por consola, como primer ejercicio, la frase “Hola Mundo”. Realizamos el siguiente código.</a:t>
            </a:r>
          </a:p>
          <a:p>
            <a:pPr marL="0" indent="0">
              <a:buNone/>
            </a:pPr>
            <a:r>
              <a:rPr lang="es-ES" dirty="0"/>
              <a:t>- En JavaScript no es necesario terminar cada sentencia con ; aunque se recomienda seguir usándolo de cara a pasar a otros lenguajes de programación con más facilidad</a:t>
            </a:r>
          </a:p>
          <a:p>
            <a:pPr marL="0" indent="0">
              <a:buNone/>
            </a:pPr>
            <a:endParaRPr lang="es-ES" dirty="0"/>
          </a:p>
        </p:txBody>
      </p:sp>
      <p:pic>
        <p:nvPicPr>
          <p:cNvPr id="5" name="Imagen 4">
            <a:extLst>
              <a:ext uri="{FF2B5EF4-FFF2-40B4-BE49-F238E27FC236}">
                <a16:creationId xmlns:a16="http://schemas.microsoft.com/office/drawing/2014/main" id="{7CD53B8D-E174-E576-171D-E367BDDF70FE}"/>
              </a:ext>
            </a:extLst>
          </p:cNvPr>
          <p:cNvPicPr>
            <a:picLocks noChangeAspect="1"/>
          </p:cNvPicPr>
          <p:nvPr/>
        </p:nvPicPr>
        <p:blipFill>
          <a:blip r:embed="rId2"/>
          <a:stretch>
            <a:fillRect/>
          </a:stretch>
        </p:blipFill>
        <p:spPr>
          <a:xfrm>
            <a:off x="1696315" y="3819569"/>
            <a:ext cx="8601570" cy="2034018"/>
          </a:xfrm>
          <a:prstGeom prst="rect">
            <a:avLst/>
          </a:prstGeom>
        </p:spPr>
      </p:pic>
    </p:spTree>
    <p:extLst>
      <p:ext uri="{BB962C8B-B14F-4D97-AF65-F5344CB8AC3E}">
        <p14:creationId xmlns:p14="http://schemas.microsoft.com/office/powerpoint/2010/main" val="2913209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Comenzando a codificar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Ahora accedemos al navegador y abrimos la página, sea en </a:t>
            </a:r>
            <a:r>
              <a:rPr lang="es-ES" dirty="0" err="1"/>
              <a:t>html</a:t>
            </a:r>
            <a:r>
              <a:rPr lang="es-ES" dirty="0"/>
              <a:t> o en </a:t>
            </a:r>
            <a:r>
              <a:rPr lang="es-ES" dirty="0" err="1"/>
              <a:t>php</a:t>
            </a:r>
            <a:r>
              <a:rPr lang="es-ES" dirty="0"/>
              <a:t>. Con el atajo </a:t>
            </a:r>
            <a:r>
              <a:rPr lang="es-ES" b="1" dirty="0"/>
              <a:t>Control + Shift + J </a:t>
            </a:r>
            <a:r>
              <a:rPr lang="es-ES" dirty="0"/>
              <a:t>para Windows, Linus o Chrome OS o </a:t>
            </a:r>
            <a:r>
              <a:rPr lang="es-ES" b="1" dirty="0" err="1"/>
              <a:t>Command</a:t>
            </a:r>
            <a:r>
              <a:rPr lang="es-ES" b="1" dirty="0"/>
              <a:t> + </a:t>
            </a:r>
            <a:r>
              <a:rPr lang="es-ES" b="1" dirty="0" err="1"/>
              <a:t>Option</a:t>
            </a:r>
            <a:r>
              <a:rPr lang="es-ES" b="1" dirty="0"/>
              <a:t> + J </a:t>
            </a:r>
            <a:r>
              <a:rPr lang="es-ES" dirty="0"/>
              <a:t>para Mac se abrirá un panel en el lateral con la consola abierta dentro de las herramientas de desarrolladores. Ahí se debería mostrar el mensaje que hemos escrito. </a:t>
            </a:r>
          </a:p>
          <a:p>
            <a:pPr marL="0" indent="0">
              <a:buNone/>
            </a:pPr>
            <a:r>
              <a:rPr lang="es-ES" dirty="0"/>
              <a:t>- Si queremos ejecutar el código en el propio VSC, podemos instalar la extensión </a:t>
            </a:r>
            <a:r>
              <a:rPr lang="es-ES" b="1" dirty="0" err="1"/>
              <a:t>Code</a:t>
            </a:r>
            <a:r>
              <a:rPr lang="es-ES" b="1" dirty="0"/>
              <a:t> Runner </a:t>
            </a:r>
            <a:r>
              <a:rPr lang="es-ES" dirty="0"/>
              <a:t>que sirve para lanzar muchos tipos de lenguajes desde la propia consola del IDE</a:t>
            </a:r>
          </a:p>
        </p:txBody>
      </p:sp>
      <p:pic>
        <p:nvPicPr>
          <p:cNvPr id="6" name="Imagen 5">
            <a:extLst>
              <a:ext uri="{FF2B5EF4-FFF2-40B4-BE49-F238E27FC236}">
                <a16:creationId xmlns:a16="http://schemas.microsoft.com/office/drawing/2014/main" id="{502D2880-9177-2975-9D6D-C28DDA8E8848}"/>
              </a:ext>
            </a:extLst>
          </p:cNvPr>
          <p:cNvPicPr>
            <a:picLocks noChangeAspect="1"/>
          </p:cNvPicPr>
          <p:nvPr/>
        </p:nvPicPr>
        <p:blipFill>
          <a:blip r:embed="rId2"/>
          <a:stretch>
            <a:fillRect/>
          </a:stretch>
        </p:blipFill>
        <p:spPr>
          <a:xfrm>
            <a:off x="2254556" y="3567209"/>
            <a:ext cx="8035287" cy="1564627"/>
          </a:xfrm>
          <a:prstGeom prst="rect">
            <a:avLst/>
          </a:prstGeom>
        </p:spPr>
      </p:pic>
    </p:spTree>
    <p:extLst>
      <p:ext uri="{BB962C8B-B14F-4D97-AF65-F5344CB8AC3E}">
        <p14:creationId xmlns:p14="http://schemas.microsoft.com/office/powerpoint/2010/main" val="2362589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3D5F-D1A9-5E05-6125-3396FEEBD9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2C2763-E353-6DC7-43F7-B17C10157825}"/>
              </a:ext>
            </a:extLst>
          </p:cNvPr>
          <p:cNvSpPr>
            <a:spLocks noGrp="1"/>
          </p:cNvSpPr>
          <p:nvPr>
            <p:ph type="title"/>
          </p:nvPr>
        </p:nvSpPr>
        <p:spPr/>
        <p:txBody>
          <a:bodyPr>
            <a:normAutofit fontScale="90000"/>
          </a:bodyPr>
          <a:lstStyle/>
          <a:p>
            <a:r>
              <a:rPr lang="es-ES" dirty="0"/>
              <a:t>2.3 – Comenzando a codificar JavaScript</a:t>
            </a:r>
          </a:p>
        </p:txBody>
      </p:sp>
      <p:sp>
        <p:nvSpPr>
          <p:cNvPr id="3" name="Marcador de contenido 2">
            <a:extLst>
              <a:ext uri="{FF2B5EF4-FFF2-40B4-BE49-F238E27FC236}">
                <a16:creationId xmlns:a16="http://schemas.microsoft.com/office/drawing/2014/main" id="{2CA45B65-2042-AD80-D2C1-DC269DAAC6A1}"/>
              </a:ext>
            </a:extLst>
          </p:cNvPr>
          <p:cNvSpPr>
            <a:spLocks noGrp="1"/>
          </p:cNvSpPr>
          <p:nvPr>
            <p:ph idx="1"/>
          </p:nvPr>
        </p:nvSpPr>
        <p:spPr/>
        <p:txBody>
          <a:bodyPr>
            <a:normAutofit lnSpcReduction="10000"/>
          </a:bodyPr>
          <a:lstStyle/>
          <a:p>
            <a:pPr>
              <a:buFontTx/>
              <a:buChar char="-"/>
            </a:pPr>
            <a:r>
              <a:rPr lang="es-ES" dirty="0"/>
              <a:t>Vamos a separar la lógica de JS del HTML y CSS creando un archivo aparte y vinculándolo con </a:t>
            </a:r>
            <a:r>
              <a:rPr lang="es-ES" b="1" dirty="0"/>
              <a:t>&lt;script </a:t>
            </a:r>
            <a:r>
              <a:rPr lang="es-ES" b="1" dirty="0" err="1"/>
              <a:t>src</a:t>
            </a:r>
            <a:r>
              <a:rPr lang="es-ES" b="1" dirty="0"/>
              <a:t>=“archivoJS.js”&gt;&lt;/script&gt;</a:t>
            </a:r>
          </a:p>
          <a:p>
            <a:pPr>
              <a:buFontTx/>
              <a:buChar char="-"/>
            </a:pPr>
            <a:r>
              <a:rPr lang="es-ES" dirty="0"/>
              <a:t>Para asegurarnos que todo el contenido del DOM haya cargado ANTES de que el código JS sea ejecutado y así evitar problemas, podemos usar 2 formas:</a:t>
            </a:r>
          </a:p>
          <a:p>
            <a:pPr marL="0" indent="0">
              <a:buNone/>
            </a:pPr>
            <a:r>
              <a:rPr lang="es-ES" dirty="0"/>
              <a:t>1- </a:t>
            </a:r>
          </a:p>
          <a:p>
            <a:pPr marL="0" indent="0">
              <a:buNone/>
            </a:pPr>
            <a:endParaRPr lang="es-ES" dirty="0"/>
          </a:p>
          <a:p>
            <a:pPr marL="0" indent="0">
              <a:buNone/>
            </a:pPr>
            <a:endParaRPr lang="es-ES" dirty="0"/>
          </a:p>
          <a:p>
            <a:pPr marL="0" indent="0">
              <a:buNone/>
            </a:pPr>
            <a:r>
              <a:rPr lang="es-ES" dirty="0"/>
              <a:t>El script se carga cuando el navegador lo encuentra en el HTML pero espera a ejecutarse la función </a:t>
            </a:r>
            <a:r>
              <a:rPr lang="es-ES" dirty="0" err="1"/>
              <a:t>callback</a:t>
            </a:r>
            <a:r>
              <a:rPr lang="es-ES" dirty="0"/>
              <a:t> hasta que el DOM esté listo (ya volveremos a las funciones </a:t>
            </a:r>
            <a:r>
              <a:rPr lang="es-ES" dirty="0" err="1"/>
              <a:t>callback</a:t>
            </a:r>
            <a:r>
              <a:rPr lang="es-ES" dirty="0"/>
              <a:t> después)</a:t>
            </a:r>
          </a:p>
          <a:p>
            <a:pPr marL="0" indent="0">
              <a:buNone/>
            </a:pPr>
            <a:r>
              <a:rPr lang="es-ES" dirty="0"/>
              <a:t>Esta forma es útil sobre todo si no se controla el HTML (tiene código inyectado, librerías externas, </a:t>
            </a:r>
            <a:r>
              <a:rPr lang="es-ES" dirty="0" err="1"/>
              <a:t>etc</a:t>
            </a:r>
            <a:r>
              <a:rPr lang="es-ES" dirty="0"/>
              <a:t>…)</a:t>
            </a:r>
          </a:p>
        </p:txBody>
      </p:sp>
      <p:pic>
        <p:nvPicPr>
          <p:cNvPr id="5" name="Imagen 4">
            <a:extLst>
              <a:ext uri="{FF2B5EF4-FFF2-40B4-BE49-F238E27FC236}">
                <a16:creationId xmlns:a16="http://schemas.microsoft.com/office/drawing/2014/main" id="{5AE8AA9F-6C8A-1717-7B49-2BA5C01601EB}"/>
              </a:ext>
            </a:extLst>
          </p:cNvPr>
          <p:cNvPicPr>
            <a:picLocks noChangeAspect="1"/>
          </p:cNvPicPr>
          <p:nvPr/>
        </p:nvPicPr>
        <p:blipFill>
          <a:blip r:embed="rId2"/>
          <a:stretch>
            <a:fillRect/>
          </a:stretch>
        </p:blipFill>
        <p:spPr>
          <a:xfrm>
            <a:off x="1595041" y="2975032"/>
            <a:ext cx="8578119" cy="1111776"/>
          </a:xfrm>
          <a:prstGeom prst="rect">
            <a:avLst/>
          </a:prstGeom>
        </p:spPr>
      </p:pic>
    </p:spTree>
    <p:extLst>
      <p:ext uri="{BB962C8B-B14F-4D97-AF65-F5344CB8AC3E}">
        <p14:creationId xmlns:p14="http://schemas.microsoft.com/office/powerpoint/2010/main" val="281666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94F3E-4766-8A44-BA69-226777CFDB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17DDCD-614A-CA7F-42B7-59D977029342}"/>
              </a:ext>
            </a:extLst>
          </p:cNvPr>
          <p:cNvSpPr>
            <a:spLocks noGrp="1"/>
          </p:cNvSpPr>
          <p:nvPr>
            <p:ph type="title"/>
          </p:nvPr>
        </p:nvSpPr>
        <p:spPr/>
        <p:txBody>
          <a:bodyPr>
            <a:normAutofit fontScale="90000"/>
          </a:bodyPr>
          <a:lstStyle/>
          <a:p>
            <a:r>
              <a:rPr lang="es-ES" dirty="0"/>
              <a:t>2.3 – Comenzando a codificar JavaScript</a:t>
            </a:r>
          </a:p>
        </p:txBody>
      </p:sp>
      <p:sp>
        <p:nvSpPr>
          <p:cNvPr id="3" name="Marcador de contenido 2">
            <a:extLst>
              <a:ext uri="{FF2B5EF4-FFF2-40B4-BE49-F238E27FC236}">
                <a16:creationId xmlns:a16="http://schemas.microsoft.com/office/drawing/2014/main" id="{2CB0DED5-700A-B1AB-F945-A6BCB663C30C}"/>
              </a:ext>
            </a:extLst>
          </p:cNvPr>
          <p:cNvSpPr>
            <a:spLocks noGrp="1"/>
          </p:cNvSpPr>
          <p:nvPr>
            <p:ph idx="1"/>
          </p:nvPr>
        </p:nvSpPr>
        <p:spPr/>
        <p:txBody>
          <a:bodyPr>
            <a:normAutofit/>
          </a:bodyPr>
          <a:lstStyle/>
          <a:p>
            <a:pPr marL="0" indent="0">
              <a:buNone/>
            </a:pPr>
            <a:r>
              <a:rPr lang="es-ES" dirty="0"/>
              <a:t>2- </a:t>
            </a:r>
          </a:p>
          <a:p>
            <a:pPr marL="0" indent="0">
              <a:buNone/>
            </a:pPr>
            <a:endParaRPr lang="es-ES" dirty="0"/>
          </a:p>
          <a:p>
            <a:pPr marL="0" indent="0">
              <a:buNone/>
            </a:pPr>
            <a:r>
              <a:rPr lang="es-ES" dirty="0"/>
              <a:t>Poner directamente </a:t>
            </a:r>
            <a:r>
              <a:rPr lang="es-ES" dirty="0" err="1"/>
              <a:t>defer</a:t>
            </a:r>
            <a:r>
              <a:rPr lang="es-ES" dirty="0"/>
              <a:t> en la línea de vinculación con la hoja de JS. El navegador descarga en paralelo (diferido) mientras carga el HTML, retrasando la ejecución del script hasta que todo el HTML esté </a:t>
            </a:r>
            <a:r>
              <a:rPr lang="es-ES" dirty="0" err="1"/>
              <a:t>parseado</a:t>
            </a:r>
            <a:r>
              <a:rPr lang="es-ES" dirty="0"/>
              <a:t>.</a:t>
            </a:r>
          </a:p>
          <a:p>
            <a:pPr marL="0" indent="0">
              <a:buNone/>
            </a:pPr>
            <a:r>
              <a:rPr lang="es-ES" dirty="0"/>
              <a:t>Así se garantiza que el JS tendrá acceso al DOM por completo, y si hay varios scripts con </a:t>
            </a:r>
            <a:r>
              <a:rPr lang="es-ES" dirty="0" err="1"/>
              <a:t>defer</a:t>
            </a:r>
            <a:r>
              <a:rPr lang="es-ES" dirty="0"/>
              <a:t>, se ejecutan en el orden en el que aparecen en el HTML, de arriba abajo.</a:t>
            </a:r>
          </a:p>
        </p:txBody>
      </p:sp>
      <p:pic>
        <p:nvPicPr>
          <p:cNvPr id="6" name="Imagen 5">
            <a:extLst>
              <a:ext uri="{FF2B5EF4-FFF2-40B4-BE49-F238E27FC236}">
                <a16:creationId xmlns:a16="http://schemas.microsoft.com/office/drawing/2014/main" id="{38FBBCC8-002E-7672-5E89-2B33533B1BD9}"/>
              </a:ext>
            </a:extLst>
          </p:cNvPr>
          <p:cNvPicPr>
            <a:picLocks noChangeAspect="1"/>
          </p:cNvPicPr>
          <p:nvPr/>
        </p:nvPicPr>
        <p:blipFill>
          <a:blip r:embed="rId2"/>
          <a:stretch>
            <a:fillRect/>
          </a:stretch>
        </p:blipFill>
        <p:spPr>
          <a:xfrm>
            <a:off x="1562834" y="1302320"/>
            <a:ext cx="7715812" cy="922822"/>
          </a:xfrm>
          <a:prstGeom prst="rect">
            <a:avLst/>
          </a:prstGeom>
        </p:spPr>
      </p:pic>
    </p:spTree>
    <p:extLst>
      <p:ext uri="{BB962C8B-B14F-4D97-AF65-F5344CB8AC3E}">
        <p14:creationId xmlns:p14="http://schemas.microsoft.com/office/powerpoint/2010/main" val="272910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Para escribir variables en JavaScript usamos las palabras claves reservadas </a:t>
            </a:r>
            <a:r>
              <a:rPr lang="es-ES" b="1" dirty="0" err="1"/>
              <a:t>var</a:t>
            </a:r>
            <a:r>
              <a:rPr lang="es-ES" b="1" dirty="0"/>
              <a:t>,</a:t>
            </a:r>
            <a:r>
              <a:rPr lang="es-ES" dirty="0"/>
              <a:t> </a:t>
            </a:r>
            <a:r>
              <a:rPr lang="es-ES" b="1" dirty="0" err="1"/>
              <a:t>let</a:t>
            </a:r>
            <a:r>
              <a:rPr lang="es-ES" dirty="0"/>
              <a:t> o </a:t>
            </a:r>
            <a:r>
              <a:rPr lang="es-ES" b="1" dirty="0" err="1"/>
              <a:t>const</a:t>
            </a:r>
            <a:r>
              <a:rPr lang="es-ES" b="1" dirty="0"/>
              <a:t> </a:t>
            </a:r>
            <a:r>
              <a:rPr lang="es-ES" dirty="0"/>
              <a:t>seguidas del nombre de la variable. Si queremos asignarle un valor, lo pondremos detrás del símbolo </a:t>
            </a:r>
            <a:r>
              <a:rPr lang="es-ES" b="1" dirty="0"/>
              <a:t>=</a:t>
            </a:r>
          </a:p>
          <a:p>
            <a:pPr marL="0" indent="0">
              <a:buNone/>
            </a:pPr>
            <a:r>
              <a:rPr lang="es-ES" dirty="0"/>
              <a:t>- Si no le asignamos un valor a una variable y la mostramos por consola, comprobaremos que nos sale como “</a:t>
            </a:r>
            <a:r>
              <a:rPr lang="es-ES" dirty="0" err="1"/>
              <a:t>undefined</a:t>
            </a:r>
            <a:r>
              <a:rPr lang="es-ES" dirty="0"/>
              <a:t>”, una variable sin valor, indefinida.</a:t>
            </a:r>
          </a:p>
        </p:txBody>
      </p:sp>
      <p:pic>
        <p:nvPicPr>
          <p:cNvPr id="5" name="Imagen 4">
            <a:extLst>
              <a:ext uri="{FF2B5EF4-FFF2-40B4-BE49-F238E27FC236}">
                <a16:creationId xmlns:a16="http://schemas.microsoft.com/office/drawing/2014/main" id="{0443578C-AE39-EC0C-1C6C-E492366A7A8B}"/>
              </a:ext>
            </a:extLst>
          </p:cNvPr>
          <p:cNvPicPr>
            <a:picLocks noChangeAspect="1"/>
          </p:cNvPicPr>
          <p:nvPr/>
        </p:nvPicPr>
        <p:blipFill>
          <a:blip r:embed="rId2"/>
          <a:stretch>
            <a:fillRect/>
          </a:stretch>
        </p:blipFill>
        <p:spPr>
          <a:xfrm>
            <a:off x="448454" y="3438667"/>
            <a:ext cx="6256562" cy="1684166"/>
          </a:xfrm>
          <a:prstGeom prst="rect">
            <a:avLst/>
          </a:prstGeom>
        </p:spPr>
      </p:pic>
      <p:pic>
        <p:nvPicPr>
          <p:cNvPr id="8" name="Imagen 7">
            <a:extLst>
              <a:ext uri="{FF2B5EF4-FFF2-40B4-BE49-F238E27FC236}">
                <a16:creationId xmlns:a16="http://schemas.microsoft.com/office/drawing/2014/main" id="{D1E45F4B-97B2-D3C7-8EAF-C28886884D1C}"/>
              </a:ext>
            </a:extLst>
          </p:cNvPr>
          <p:cNvPicPr>
            <a:picLocks noChangeAspect="1"/>
          </p:cNvPicPr>
          <p:nvPr/>
        </p:nvPicPr>
        <p:blipFill>
          <a:blip r:embed="rId3"/>
          <a:stretch>
            <a:fillRect/>
          </a:stretch>
        </p:blipFill>
        <p:spPr>
          <a:xfrm>
            <a:off x="6507264" y="3797283"/>
            <a:ext cx="5617228" cy="1866399"/>
          </a:xfrm>
          <a:prstGeom prst="rect">
            <a:avLst/>
          </a:prstGeom>
        </p:spPr>
      </p:pic>
    </p:spTree>
    <p:extLst>
      <p:ext uri="{BB962C8B-B14F-4D97-AF65-F5344CB8AC3E}">
        <p14:creationId xmlns:p14="http://schemas.microsoft.com/office/powerpoint/2010/main" val="3187138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Ahora vamos a ver las diferencias entre </a:t>
            </a:r>
            <a:r>
              <a:rPr lang="es-ES" dirty="0" err="1"/>
              <a:t>var</a:t>
            </a:r>
            <a:r>
              <a:rPr lang="es-ES" dirty="0"/>
              <a:t>, </a:t>
            </a:r>
            <a:r>
              <a:rPr lang="es-ES" dirty="0" err="1"/>
              <a:t>let</a:t>
            </a:r>
            <a:r>
              <a:rPr lang="es-ES" dirty="0"/>
              <a:t> y </a:t>
            </a:r>
            <a:r>
              <a:rPr lang="es-ES" dirty="0" err="1"/>
              <a:t>const.</a:t>
            </a:r>
            <a:endParaRPr lang="es-ES" dirty="0"/>
          </a:p>
          <a:p>
            <a:pPr marL="0" indent="0">
              <a:buNone/>
            </a:pPr>
            <a:r>
              <a:rPr lang="es-ES" dirty="0"/>
              <a:t>- </a:t>
            </a:r>
            <a:r>
              <a:rPr lang="es-ES" dirty="0" err="1"/>
              <a:t>var</a:t>
            </a:r>
            <a:r>
              <a:rPr lang="es-ES" dirty="0"/>
              <a:t> se usaba antiguamente, pero a día de hoy el uso recomendable es el de </a:t>
            </a:r>
            <a:r>
              <a:rPr lang="es-ES" dirty="0" err="1"/>
              <a:t>let</a:t>
            </a:r>
            <a:r>
              <a:rPr lang="es-ES" dirty="0"/>
              <a:t>. Var es una variable de ámbito global, es decir, si se declara fuera de una función, en el propio código de JavaScript, se puede volver a reasignarle su valor si la volvemos a declarar exactamente igual dentro de unas llaves de un </a:t>
            </a:r>
            <a:r>
              <a:rPr lang="es-ES" dirty="0" err="1"/>
              <a:t>if</a:t>
            </a:r>
            <a:r>
              <a:rPr lang="es-ES" dirty="0"/>
              <a:t>, por ejemplo, y no nos damos cuenta.</a:t>
            </a:r>
          </a:p>
        </p:txBody>
      </p:sp>
      <p:pic>
        <p:nvPicPr>
          <p:cNvPr id="6" name="Imagen 5">
            <a:extLst>
              <a:ext uri="{FF2B5EF4-FFF2-40B4-BE49-F238E27FC236}">
                <a16:creationId xmlns:a16="http://schemas.microsoft.com/office/drawing/2014/main" id="{82E10F01-B113-7F84-0010-C686158FB91A}"/>
              </a:ext>
            </a:extLst>
          </p:cNvPr>
          <p:cNvPicPr>
            <a:picLocks noChangeAspect="1"/>
          </p:cNvPicPr>
          <p:nvPr/>
        </p:nvPicPr>
        <p:blipFill>
          <a:blip r:embed="rId2"/>
          <a:stretch>
            <a:fillRect/>
          </a:stretch>
        </p:blipFill>
        <p:spPr>
          <a:xfrm>
            <a:off x="788002" y="3035191"/>
            <a:ext cx="4231867" cy="2837512"/>
          </a:xfrm>
          <a:prstGeom prst="rect">
            <a:avLst/>
          </a:prstGeom>
        </p:spPr>
      </p:pic>
      <p:pic>
        <p:nvPicPr>
          <p:cNvPr id="9" name="Imagen 8">
            <a:extLst>
              <a:ext uri="{FF2B5EF4-FFF2-40B4-BE49-F238E27FC236}">
                <a16:creationId xmlns:a16="http://schemas.microsoft.com/office/drawing/2014/main" id="{2F5405FC-D555-5EE3-E8D9-B3F96489CDDD}"/>
              </a:ext>
            </a:extLst>
          </p:cNvPr>
          <p:cNvPicPr>
            <a:picLocks noChangeAspect="1"/>
          </p:cNvPicPr>
          <p:nvPr/>
        </p:nvPicPr>
        <p:blipFill>
          <a:blip r:embed="rId3"/>
          <a:stretch>
            <a:fillRect/>
          </a:stretch>
        </p:blipFill>
        <p:spPr>
          <a:xfrm>
            <a:off x="5513680" y="3438667"/>
            <a:ext cx="6420307" cy="1726164"/>
          </a:xfrm>
          <a:prstGeom prst="rect">
            <a:avLst/>
          </a:prstGeom>
        </p:spPr>
      </p:pic>
    </p:spTree>
    <p:extLst>
      <p:ext uri="{BB962C8B-B14F-4D97-AF65-F5344CB8AC3E}">
        <p14:creationId xmlns:p14="http://schemas.microsoft.com/office/powerpoint/2010/main" val="150803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a:t>
            </a:r>
            <a:r>
              <a:rPr lang="es-ES" dirty="0" err="1"/>
              <a:t>let</a:t>
            </a:r>
            <a:r>
              <a:rPr lang="es-ES" dirty="0"/>
              <a:t> tiene un ámbito de bloque, es decir, que solo actúa dentro del bloque donde es declarada. Cojamos el mismo ejemplo anterior pero con </a:t>
            </a:r>
            <a:r>
              <a:rPr lang="es-ES" dirty="0" err="1"/>
              <a:t>let</a:t>
            </a:r>
            <a:r>
              <a:rPr lang="es-ES" dirty="0"/>
              <a:t>.</a:t>
            </a:r>
          </a:p>
        </p:txBody>
      </p:sp>
      <p:pic>
        <p:nvPicPr>
          <p:cNvPr id="5" name="Imagen 4">
            <a:extLst>
              <a:ext uri="{FF2B5EF4-FFF2-40B4-BE49-F238E27FC236}">
                <a16:creationId xmlns:a16="http://schemas.microsoft.com/office/drawing/2014/main" id="{6C7729D6-F5DD-A7ED-CED1-22107904AE30}"/>
              </a:ext>
            </a:extLst>
          </p:cNvPr>
          <p:cNvPicPr>
            <a:picLocks noChangeAspect="1"/>
          </p:cNvPicPr>
          <p:nvPr/>
        </p:nvPicPr>
        <p:blipFill>
          <a:blip r:embed="rId2"/>
          <a:stretch>
            <a:fillRect/>
          </a:stretch>
        </p:blipFill>
        <p:spPr>
          <a:xfrm>
            <a:off x="660827" y="2162651"/>
            <a:ext cx="4580017" cy="3055885"/>
          </a:xfrm>
          <a:prstGeom prst="rect">
            <a:avLst/>
          </a:prstGeom>
        </p:spPr>
      </p:pic>
      <p:pic>
        <p:nvPicPr>
          <p:cNvPr id="8" name="Imagen 7">
            <a:extLst>
              <a:ext uri="{FF2B5EF4-FFF2-40B4-BE49-F238E27FC236}">
                <a16:creationId xmlns:a16="http://schemas.microsoft.com/office/drawing/2014/main" id="{29528139-F33D-A7FE-0517-F70D3D2B256F}"/>
              </a:ext>
            </a:extLst>
          </p:cNvPr>
          <p:cNvPicPr>
            <a:picLocks noChangeAspect="1"/>
          </p:cNvPicPr>
          <p:nvPr/>
        </p:nvPicPr>
        <p:blipFill>
          <a:blip r:embed="rId3"/>
          <a:stretch>
            <a:fillRect/>
          </a:stretch>
        </p:blipFill>
        <p:spPr>
          <a:xfrm>
            <a:off x="6419776" y="2596825"/>
            <a:ext cx="3946848" cy="2016138"/>
          </a:xfrm>
          <a:prstGeom prst="rect">
            <a:avLst/>
          </a:prstGeom>
        </p:spPr>
      </p:pic>
    </p:spTree>
    <p:extLst>
      <p:ext uri="{BB962C8B-B14F-4D97-AF65-F5344CB8AC3E}">
        <p14:creationId xmlns:p14="http://schemas.microsoft.com/office/powerpoint/2010/main" val="3658235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En el caso anterior, a pesar de llamarse igual, la segunda variable saludo solo sirve dentro de las llaves del </a:t>
            </a:r>
            <a:r>
              <a:rPr lang="es-ES" dirty="0" err="1"/>
              <a:t>if</a:t>
            </a:r>
            <a:r>
              <a:rPr lang="es-ES" dirty="0"/>
              <a:t>, por tanto, al imprimir por consola la variable saludo va a escoger la que está declarada fuera del </a:t>
            </a:r>
            <a:r>
              <a:rPr lang="es-ES" dirty="0" err="1"/>
              <a:t>if</a:t>
            </a:r>
            <a:r>
              <a:rPr lang="es-ES" dirty="0"/>
              <a:t>, la primera que se creó, es decir que a diferencia de la declaración con </a:t>
            </a:r>
            <a:r>
              <a:rPr lang="es-ES" dirty="0" err="1"/>
              <a:t>var</a:t>
            </a:r>
            <a:r>
              <a:rPr lang="es-ES" dirty="0"/>
              <a:t>, no le va a reasignar un nuevo valor.</a:t>
            </a:r>
          </a:p>
          <a:p>
            <a:pPr marL="0" indent="0">
              <a:buNone/>
            </a:pPr>
            <a:r>
              <a:rPr lang="es-ES" dirty="0"/>
              <a:t>- Finalmente, </a:t>
            </a:r>
            <a:r>
              <a:rPr lang="es-ES" dirty="0" err="1"/>
              <a:t>const</a:t>
            </a:r>
            <a:r>
              <a:rPr lang="es-ES" dirty="0"/>
              <a:t> se usa para declarar variables de valor constante. Estas variables no van a poder ser reasignadas con un nuevo valor, por lo que nos saltará un error si al declararlas no les asignamos un valor directamente.</a:t>
            </a:r>
          </a:p>
        </p:txBody>
      </p:sp>
      <p:pic>
        <p:nvPicPr>
          <p:cNvPr id="6" name="Imagen 5">
            <a:extLst>
              <a:ext uri="{FF2B5EF4-FFF2-40B4-BE49-F238E27FC236}">
                <a16:creationId xmlns:a16="http://schemas.microsoft.com/office/drawing/2014/main" id="{08BDEB00-4A3A-C3FC-61A8-031682B9C504}"/>
              </a:ext>
            </a:extLst>
          </p:cNvPr>
          <p:cNvPicPr>
            <a:picLocks noChangeAspect="1"/>
          </p:cNvPicPr>
          <p:nvPr/>
        </p:nvPicPr>
        <p:blipFill>
          <a:blip r:embed="rId2"/>
          <a:stretch>
            <a:fillRect/>
          </a:stretch>
        </p:blipFill>
        <p:spPr>
          <a:xfrm>
            <a:off x="3770434" y="3738635"/>
            <a:ext cx="4665516" cy="1887724"/>
          </a:xfrm>
          <a:prstGeom prst="rect">
            <a:avLst/>
          </a:prstGeom>
        </p:spPr>
      </p:pic>
    </p:spTree>
    <p:extLst>
      <p:ext uri="{BB962C8B-B14F-4D97-AF65-F5344CB8AC3E}">
        <p14:creationId xmlns:p14="http://schemas.microsoft.com/office/powerpoint/2010/main" val="244136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199" y="1153703"/>
            <a:ext cx="5366747" cy="4234026"/>
          </a:xfrm>
        </p:spPr>
        <p:txBody>
          <a:bodyPr/>
          <a:lstStyle/>
          <a:p>
            <a:pPr marL="0" indent="0">
              <a:buNone/>
            </a:pPr>
            <a:r>
              <a:rPr lang="es-ES" dirty="0"/>
              <a:t>- Como en JavaScript se puede reasignar otro tipo de dato primitivo a una variable (empezar siendo un </a:t>
            </a:r>
            <a:r>
              <a:rPr lang="es-ES" dirty="0" err="1"/>
              <a:t>String</a:t>
            </a:r>
            <a:r>
              <a:rPr lang="es-ES" dirty="0"/>
              <a:t>, cambiar luego a un número, </a:t>
            </a:r>
            <a:r>
              <a:rPr lang="es-ES" dirty="0" err="1"/>
              <a:t>etc</a:t>
            </a:r>
            <a:r>
              <a:rPr lang="es-ES" dirty="0"/>
              <a:t>…) hay una ayuda para saber de qué tipo es una variable, que es el </a:t>
            </a:r>
            <a:r>
              <a:rPr lang="es-ES" b="1" dirty="0" err="1"/>
              <a:t>typeof</a:t>
            </a:r>
            <a:endParaRPr lang="es-ES" b="1" dirty="0"/>
          </a:p>
          <a:p>
            <a:pPr marL="0" indent="0">
              <a:buNone/>
            </a:pPr>
            <a:r>
              <a:rPr lang="es-ES" dirty="0"/>
              <a:t>- Si ponemos, por ejemplo, </a:t>
            </a:r>
            <a:r>
              <a:rPr lang="es-ES" b="1" dirty="0"/>
              <a:t>console.log(</a:t>
            </a:r>
            <a:r>
              <a:rPr lang="es-ES" b="1" dirty="0" err="1"/>
              <a:t>typeof</a:t>
            </a:r>
            <a:r>
              <a:rPr lang="es-ES" b="1" dirty="0"/>
              <a:t> (variable) )</a:t>
            </a:r>
            <a:r>
              <a:rPr lang="es-ES" dirty="0"/>
              <a:t>, por consola nos va a indicar el tipo de dato que es esa variable actualmente.</a:t>
            </a:r>
          </a:p>
          <a:p>
            <a:pPr marL="0" indent="0">
              <a:buNone/>
            </a:pPr>
            <a:r>
              <a:rPr lang="es-ES" dirty="0"/>
              <a:t>- En el caso de JS, nos olvidamos de </a:t>
            </a:r>
            <a:r>
              <a:rPr lang="es-ES" dirty="0" err="1"/>
              <a:t>int</a:t>
            </a:r>
            <a:r>
              <a:rPr lang="es-ES" dirty="0"/>
              <a:t>, </a:t>
            </a:r>
            <a:r>
              <a:rPr lang="es-ES" dirty="0" err="1"/>
              <a:t>double</a:t>
            </a:r>
            <a:r>
              <a:rPr lang="es-ES" dirty="0"/>
              <a:t>, </a:t>
            </a:r>
            <a:r>
              <a:rPr lang="es-ES" dirty="0" err="1"/>
              <a:t>float</a:t>
            </a:r>
            <a:r>
              <a:rPr lang="es-ES" dirty="0"/>
              <a:t>, </a:t>
            </a:r>
            <a:r>
              <a:rPr lang="es-ES" dirty="0" err="1"/>
              <a:t>etc</a:t>
            </a:r>
            <a:r>
              <a:rPr lang="es-ES" dirty="0"/>
              <a:t>… A diferencia de otros lenguajes como Java, cualquier número va a ser de tipo </a:t>
            </a:r>
            <a:r>
              <a:rPr lang="es-ES" b="1" dirty="0" err="1"/>
              <a:t>number</a:t>
            </a:r>
            <a:endParaRPr lang="es-ES" b="1" dirty="0"/>
          </a:p>
        </p:txBody>
      </p:sp>
      <p:pic>
        <p:nvPicPr>
          <p:cNvPr id="5" name="Imagen 4">
            <a:extLst>
              <a:ext uri="{FF2B5EF4-FFF2-40B4-BE49-F238E27FC236}">
                <a16:creationId xmlns:a16="http://schemas.microsoft.com/office/drawing/2014/main" id="{F71B03F2-6C7D-2AE6-FECF-D038ACE0E20C}"/>
              </a:ext>
            </a:extLst>
          </p:cNvPr>
          <p:cNvPicPr>
            <a:picLocks noChangeAspect="1"/>
          </p:cNvPicPr>
          <p:nvPr/>
        </p:nvPicPr>
        <p:blipFill>
          <a:blip r:embed="rId2"/>
          <a:stretch>
            <a:fillRect/>
          </a:stretch>
        </p:blipFill>
        <p:spPr>
          <a:xfrm>
            <a:off x="5968186" y="716873"/>
            <a:ext cx="5981218" cy="4898323"/>
          </a:xfrm>
          <a:prstGeom prst="rect">
            <a:avLst/>
          </a:prstGeom>
        </p:spPr>
      </p:pic>
    </p:spTree>
    <p:extLst>
      <p:ext uri="{BB962C8B-B14F-4D97-AF65-F5344CB8AC3E}">
        <p14:creationId xmlns:p14="http://schemas.microsoft.com/office/powerpoint/2010/main" val="1296707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2.3 – Variables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199" y="1153703"/>
            <a:ext cx="5366747" cy="4234026"/>
          </a:xfrm>
        </p:spPr>
        <p:txBody>
          <a:bodyPr/>
          <a:lstStyle/>
          <a:p>
            <a:pPr marL="0" indent="0">
              <a:buNone/>
            </a:pPr>
            <a:r>
              <a:rPr lang="es-ES" dirty="0"/>
              <a:t>- Como JavaScript es un lenguaje que se traga todo (al estar débilmente tipado), podemos hacer cosas como concatenar dos tipos de variables y las va a imprimir sin problemas.</a:t>
            </a:r>
          </a:p>
          <a:p>
            <a:pPr marL="0" indent="0">
              <a:buNone/>
            </a:pPr>
            <a:r>
              <a:rPr lang="es-ES" dirty="0"/>
              <a:t>- Por ejemplo, podríamos concatenar una variable de tipo </a:t>
            </a:r>
            <a:r>
              <a:rPr lang="es-ES" dirty="0" err="1"/>
              <a:t>String</a:t>
            </a:r>
            <a:r>
              <a:rPr lang="es-ES" dirty="0"/>
              <a:t> y una de tipo </a:t>
            </a:r>
            <a:r>
              <a:rPr lang="es-ES" dirty="0" err="1"/>
              <a:t>number</a:t>
            </a:r>
            <a:r>
              <a:rPr lang="es-ES" dirty="0"/>
              <a:t>, y no pasaría absolutamente nada.</a:t>
            </a:r>
          </a:p>
          <a:p>
            <a:pPr marL="0" indent="0">
              <a:buNone/>
            </a:pPr>
            <a:r>
              <a:rPr lang="es-ES" dirty="0"/>
              <a:t>- En el ejemplo, por consola nos daría la frase “Esto es una cadena de texto 11”</a:t>
            </a:r>
          </a:p>
        </p:txBody>
      </p:sp>
      <p:pic>
        <p:nvPicPr>
          <p:cNvPr id="6" name="Imagen 5">
            <a:extLst>
              <a:ext uri="{FF2B5EF4-FFF2-40B4-BE49-F238E27FC236}">
                <a16:creationId xmlns:a16="http://schemas.microsoft.com/office/drawing/2014/main" id="{516B64F1-49E7-F5EE-5947-0D075405049C}"/>
              </a:ext>
            </a:extLst>
          </p:cNvPr>
          <p:cNvPicPr>
            <a:picLocks noChangeAspect="1"/>
          </p:cNvPicPr>
          <p:nvPr/>
        </p:nvPicPr>
        <p:blipFill>
          <a:blip r:embed="rId2"/>
          <a:stretch>
            <a:fillRect/>
          </a:stretch>
        </p:blipFill>
        <p:spPr>
          <a:xfrm>
            <a:off x="6295056" y="814508"/>
            <a:ext cx="5641324" cy="4234026"/>
          </a:xfrm>
          <a:prstGeom prst="rect">
            <a:avLst/>
          </a:prstGeom>
        </p:spPr>
      </p:pic>
    </p:spTree>
    <p:extLst>
      <p:ext uri="{BB962C8B-B14F-4D97-AF65-F5344CB8AC3E}">
        <p14:creationId xmlns:p14="http://schemas.microsoft.com/office/powerpoint/2010/main" val="2504748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2.4 – Accediendo a un carácter de un </a:t>
            </a:r>
            <a:r>
              <a:rPr lang="es-ES" dirty="0" err="1"/>
              <a:t>String</a:t>
            </a:r>
            <a:endParaRPr lang="es-ES" dirty="0"/>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En JavaScript podemos acceder al índice de una variable de tipo </a:t>
            </a:r>
            <a:r>
              <a:rPr lang="es-ES" dirty="0" err="1"/>
              <a:t>String</a:t>
            </a:r>
            <a:r>
              <a:rPr lang="es-ES" dirty="0"/>
              <a:t>, cadena de caracteres, para saber el elemento que se encuentra en determinada posición (como si de un array se tratase)</a:t>
            </a:r>
          </a:p>
          <a:p>
            <a:pPr marL="0" indent="0">
              <a:buNone/>
            </a:pPr>
            <a:r>
              <a:rPr lang="es-ES" dirty="0"/>
              <a:t>- En el siguiente ejemplo, va a imprimir por consola la letra “q”</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Eso sí, con esto no podríamos cambiar el carácter de la cadena, dado que son inmutables. Podríamos reasignar una nueva cadena a la variable frase.</a:t>
            </a:r>
          </a:p>
          <a:p>
            <a:pPr marL="0" indent="0">
              <a:buNone/>
            </a:pPr>
            <a:endParaRPr lang="es-ES" dirty="0"/>
          </a:p>
        </p:txBody>
      </p:sp>
      <p:pic>
        <p:nvPicPr>
          <p:cNvPr id="5" name="Imagen 4">
            <a:extLst>
              <a:ext uri="{FF2B5EF4-FFF2-40B4-BE49-F238E27FC236}">
                <a16:creationId xmlns:a16="http://schemas.microsoft.com/office/drawing/2014/main" id="{F94545E7-FF64-E107-2FCB-11810AB54A0D}"/>
              </a:ext>
            </a:extLst>
          </p:cNvPr>
          <p:cNvPicPr>
            <a:picLocks noChangeAspect="1"/>
          </p:cNvPicPr>
          <p:nvPr/>
        </p:nvPicPr>
        <p:blipFill>
          <a:blip r:embed="rId2"/>
          <a:stretch>
            <a:fillRect/>
          </a:stretch>
        </p:blipFill>
        <p:spPr>
          <a:xfrm>
            <a:off x="2529297" y="2924083"/>
            <a:ext cx="6638139" cy="1825198"/>
          </a:xfrm>
          <a:prstGeom prst="rect">
            <a:avLst/>
          </a:prstGeom>
        </p:spPr>
      </p:pic>
    </p:spTree>
    <p:extLst>
      <p:ext uri="{BB962C8B-B14F-4D97-AF65-F5344CB8AC3E}">
        <p14:creationId xmlns:p14="http://schemas.microsoft.com/office/powerpoint/2010/main" val="4158936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Un Array no tiene por qué ser del mismo tipo de dato constantemente, a diferencia de Java, dado que no </a:t>
            </a:r>
            <a:r>
              <a:rPr lang="es-ES" dirty="0" err="1"/>
              <a:t>tipamos</a:t>
            </a:r>
            <a:r>
              <a:rPr lang="es-ES" dirty="0"/>
              <a:t> el tipo de dato que va a tener el array.</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El anterior ejemplo no va a dar ningún error, imprimiendo por consola tanto los </a:t>
            </a:r>
            <a:r>
              <a:rPr lang="es-ES" dirty="0" err="1"/>
              <a:t>String</a:t>
            </a:r>
            <a:r>
              <a:rPr lang="es-ES" dirty="0"/>
              <a:t> como el </a:t>
            </a:r>
            <a:r>
              <a:rPr lang="es-ES" dirty="0" err="1"/>
              <a:t>int</a:t>
            </a:r>
            <a:r>
              <a:rPr lang="es-ES" dirty="0"/>
              <a:t>.</a:t>
            </a:r>
          </a:p>
          <a:p>
            <a:pPr marL="0" indent="0">
              <a:buNone/>
            </a:pPr>
            <a:r>
              <a:rPr lang="es-ES" dirty="0"/>
              <a:t>- Asimismo, observamos que para imprimirlo, lo podemos imprimir como una variable normal, sin necesidad de utilizar un bucle </a:t>
            </a:r>
            <a:r>
              <a:rPr lang="es-ES" dirty="0" err="1"/>
              <a:t>for</a:t>
            </a: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8ADA6478-0C97-D0D4-C29E-DA56E19F79B2}"/>
              </a:ext>
            </a:extLst>
          </p:cNvPr>
          <p:cNvPicPr>
            <a:picLocks noChangeAspect="1"/>
          </p:cNvPicPr>
          <p:nvPr/>
        </p:nvPicPr>
        <p:blipFill>
          <a:blip r:embed="rId2"/>
          <a:stretch>
            <a:fillRect/>
          </a:stretch>
        </p:blipFill>
        <p:spPr>
          <a:xfrm>
            <a:off x="2276670" y="2247475"/>
            <a:ext cx="6502342" cy="1618487"/>
          </a:xfrm>
          <a:prstGeom prst="rect">
            <a:avLst/>
          </a:prstGeom>
        </p:spPr>
      </p:pic>
    </p:spTree>
    <p:extLst>
      <p:ext uri="{BB962C8B-B14F-4D97-AF65-F5344CB8AC3E}">
        <p14:creationId xmlns:p14="http://schemas.microsoft.com/office/powerpoint/2010/main" val="1676510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Como en JavaScript los </a:t>
            </a:r>
            <a:r>
              <a:rPr lang="es-ES" dirty="0" err="1"/>
              <a:t>arrays</a:t>
            </a:r>
            <a:r>
              <a:rPr lang="es-ES" dirty="0"/>
              <a:t> no son inmutables en cuanto a su tamaño, podemos agregar más elementos al array con el método </a:t>
            </a:r>
            <a:r>
              <a:rPr lang="es-ES" b="1" dirty="0" err="1"/>
              <a:t>push</a:t>
            </a:r>
            <a:r>
              <a:rPr lang="es-ES" dirty="0"/>
              <a:t>.</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En el siguiente código, lo que estamos haciendo es agregar al array un nuevo elemento, Invierno, al final.</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1AED29A0-78A2-40E2-087D-D35411893BA5}"/>
              </a:ext>
            </a:extLst>
          </p:cNvPr>
          <p:cNvPicPr>
            <a:picLocks noChangeAspect="1"/>
          </p:cNvPicPr>
          <p:nvPr/>
        </p:nvPicPr>
        <p:blipFill>
          <a:blip r:embed="rId2"/>
          <a:stretch>
            <a:fillRect/>
          </a:stretch>
        </p:blipFill>
        <p:spPr>
          <a:xfrm>
            <a:off x="2823287" y="2006082"/>
            <a:ext cx="6040871" cy="2168517"/>
          </a:xfrm>
          <a:prstGeom prst="rect">
            <a:avLst/>
          </a:prstGeom>
        </p:spPr>
      </p:pic>
    </p:spTree>
    <p:extLst>
      <p:ext uri="{BB962C8B-B14F-4D97-AF65-F5344CB8AC3E}">
        <p14:creationId xmlns:p14="http://schemas.microsoft.com/office/powerpoint/2010/main" val="3404581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Con el método </a:t>
            </a:r>
            <a:r>
              <a:rPr lang="es-ES" b="1" dirty="0"/>
              <a:t>pop</a:t>
            </a:r>
            <a:r>
              <a:rPr lang="es-ES" dirty="0"/>
              <a:t> eliminamos el último elemento del array.</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En el ejemplo, removemos el dato Otoño del array, encontrándonos en la segunda impresión por consola con Primavera y Verano solamente.</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4B577D54-873A-7085-CFAB-A3EB60235AA4}"/>
              </a:ext>
            </a:extLst>
          </p:cNvPr>
          <p:cNvPicPr>
            <a:picLocks noChangeAspect="1"/>
          </p:cNvPicPr>
          <p:nvPr/>
        </p:nvPicPr>
        <p:blipFill>
          <a:blip r:embed="rId2"/>
          <a:stretch>
            <a:fillRect/>
          </a:stretch>
        </p:blipFill>
        <p:spPr>
          <a:xfrm>
            <a:off x="2212089" y="1810138"/>
            <a:ext cx="6469361" cy="2838948"/>
          </a:xfrm>
          <a:prstGeom prst="rect">
            <a:avLst/>
          </a:prstGeom>
        </p:spPr>
      </p:pic>
    </p:spTree>
    <p:extLst>
      <p:ext uri="{BB962C8B-B14F-4D97-AF65-F5344CB8AC3E}">
        <p14:creationId xmlns:p14="http://schemas.microsoft.com/office/powerpoint/2010/main" val="3830270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p:txBody>
          <a:bodyPr/>
          <a:lstStyle/>
          <a:p>
            <a:pPr marL="0" indent="0">
              <a:buNone/>
            </a:pPr>
            <a:r>
              <a:rPr lang="es-ES" dirty="0"/>
              <a:t>- Además, el método pop retorna ese último dato, por lo que podemos guardarlo en una variable y trabajar con él después.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En el ejemplo, guardamos el elemento Otoño en la variable </a:t>
            </a:r>
            <a:r>
              <a:rPr lang="es-ES" dirty="0" err="1"/>
              <a:t>ultimoElemento</a:t>
            </a:r>
            <a:r>
              <a:rPr lang="es-ES" dirty="0"/>
              <a:t> al hacer pop en el array. Luego, imprimimos el array sin ese elemento y el elemento extraído en sí</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3C38C029-85E0-98C7-8B45-72104B95340E}"/>
              </a:ext>
            </a:extLst>
          </p:cNvPr>
          <p:cNvPicPr>
            <a:picLocks noChangeAspect="1"/>
          </p:cNvPicPr>
          <p:nvPr/>
        </p:nvPicPr>
        <p:blipFill>
          <a:blip r:embed="rId2"/>
          <a:stretch>
            <a:fillRect/>
          </a:stretch>
        </p:blipFill>
        <p:spPr>
          <a:xfrm>
            <a:off x="2705878" y="2123313"/>
            <a:ext cx="6160232" cy="2372579"/>
          </a:xfrm>
          <a:prstGeom prst="rect">
            <a:avLst/>
          </a:prstGeom>
        </p:spPr>
      </p:pic>
    </p:spTree>
    <p:extLst>
      <p:ext uri="{BB962C8B-B14F-4D97-AF65-F5344CB8AC3E}">
        <p14:creationId xmlns:p14="http://schemas.microsoft.com/office/powerpoint/2010/main" val="475896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marL="0" indent="0">
              <a:buNone/>
            </a:pPr>
            <a:r>
              <a:rPr lang="es-ES" dirty="0"/>
              <a:t>- El método </a:t>
            </a:r>
            <a:r>
              <a:rPr lang="es-ES" b="1" dirty="0"/>
              <a:t>shift</a:t>
            </a:r>
            <a:r>
              <a:rPr lang="es-ES" dirty="0"/>
              <a:t> es exactamente igual que el método </a:t>
            </a:r>
            <a:r>
              <a:rPr lang="es-ES" b="1" dirty="0"/>
              <a:t>pop</a:t>
            </a:r>
            <a:r>
              <a:rPr lang="es-ES" dirty="0"/>
              <a:t> pero removiendo el primer elemento del array. Del mismo modo, ese elemento extraído se puede guardar en una variable después.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En el ejemplo, hemos removido el elemento Primavera del array y lo hemos guardado en una variable para imprimirlo después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ED45FB95-9B26-87AE-C029-5B7654226479}"/>
              </a:ext>
            </a:extLst>
          </p:cNvPr>
          <p:cNvPicPr>
            <a:picLocks noChangeAspect="1"/>
          </p:cNvPicPr>
          <p:nvPr/>
        </p:nvPicPr>
        <p:blipFill>
          <a:blip r:embed="rId2"/>
          <a:stretch>
            <a:fillRect/>
          </a:stretch>
        </p:blipFill>
        <p:spPr>
          <a:xfrm>
            <a:off x="2547257" y="2114382"/>
            <a:ext cx="6180065" cy="2440376"/>
          </a:xfrm>
          <a:prstGeom prst="rect">
            <a:avLst/>
          </a:prstGeom>
        </p:spPr>
      </p:pic>
    </p:spTree>
    <p:extLst>
      <p:ext uri="{BB962C8B-B14F-4D97-AF65-F5344CB8AC3E}">
        <p14:creationId xmlns:p14="http://schemas.microsoft.com/office/powerpoint/2010/main" val="2584844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marL="0" indent="0">
              <a:buNone/>
            </a:pPr>
            <a:r>
              <a:rPr lang="es-ES" dirty="0"/>
              <a:t>- El método </a:t>
            </a:r>
            <a:r>
              <a:rPr lang="es-ES" b="1" dirty="0" err="1"/>
              <a:t>unshift</a:t>
            </a:r>
            <a:r>
              <a:rPr lang="es-ES" b="1" dirty="0"/>
              <a:t> </a:t>
            </a:r>
            <a:r>
              <a:rPr lang="es-ES" dirty="0"/>
              <a:t>agrega un nuevo elemento en el principio del array.</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En el ejemplo, hemos agregado Invierno al comienzo del array.</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A8FA7ED5-54B1-ED3A-F768-89D47D2DF369}"/>
              </a:ext>
            </a:extLst>
          </p:cNvPr>
          <p:cNvPicPr>
            <a:picLocks noChangeAspect="1"/>
          </p:cNvPicPr>
          <p:nvPr/>
        </p:nvPicPr>
        <p:blipFill>
          <a:blip r:embed="rId2"/>
          <a:stretch>
            <a:fillRect/>
          </a:stretch>
        </p:blipFill>
        <p:spPr>
          <a:xfrm>
            <a:off x="2684011" y="2118050"/>
            <a:ext cx="5978387" cy="1896758"/>
          </a:xfrm>
          <a:prstGeom prst="rect">
            <a:avLst/>
          </a:prstGeom>
        </p:spPr>
      </p:pic>
    </p:spTree>
    <p:extLst>
      <p:ext uri="{BB962C8B-B14F-4D97-AF65-F5344CB8AC3E}">
        <p14:creationId xmlns:p14="http://schemas.microsoft.com/office/powerpoint/2010/main" val="223767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a:buFontTx/>
              <a:buChar char="-"/>
            </a:pPr>
            <a:r>
              <a:rPr lang="es-ES" dirty="0"/>
              <a:t>El método </a:t>
            </a:r>
            <a:r>
              <a:rPr lang="es-ES" b="1" dirty="0" err="1"/>
              <a:t>splice</a:t>
            </a:r>
            <a:r>
              <a:rPr lang="es-ES" b="1" dirty="0"/>
              <a:t> </a:t>
            </a:r>
            <a:r>
              <a:rPr lang="es-ES" dirty="0"/>
              <a:t>permite eliminar elementos de cualquier posición del array y/o insertar otros en su lugar. Devuelve un array con los elementos eliminados. La sintaxis es la siguiente:</a:t>
            </a:r>
          </a:p>
          <a:p>
            <a:pPr marL="0" indent="0">
              <a:buNone/>
            </a:pPr>
            <a:r>
              <a:rPr lang="es-ES" b="1" dirty="0"/>
              <a:t>   </a:t>
            </a:r>
            <a:r>
              <a:rPr lang="es-ES" b="1" dirty="0" err="1"/>
              <a:t>Array.splice</a:t>
            </a:r>
            <a:r>
              <a:rPr lang="es-ES" b="1" dirty="0"/>
              <a:t>(posición, número de elementos a eliminar, 1º elemento a insertar, 2º, 3º…)</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C2792E6C-E8B3-F1FB-1E24-5A4059E3A211}"/>
              </a:ext>
            </a:extLst>
          </p:cNvPr>
          <p:cNvPicPr>
            <a:picLocks noChangeAspect="1"/>
          </p:cNvPicPr>
          <p:nvPr/>
        </p:nvPicPr>
        <p:blipFill>
          <a:blip r:embed="rId2"/>
          <a:stretch>
            <a:fillRect/>
          </a:stretch>
        </p:blipFill>
        <p:spPr>
          <a:xfrm>
            <a:off x="664339" y="2995127"/>
            <a:ext cx="10877705" cy="1912776"/>
          </a:xfrm>
          <a:prstGeom prst="rect">
            <a:avLst/>
          </a:prstGeom>
        </p:spPr>
      </p:pic>
    </p:spTree>
    <p:extLst>
      <p:ext uri="{BB962C8B-B14F-4D97-AF65-F5344CB8AC3E}">
        <p14:creationId xmlns:p14="http://schemas.microsoft.com/office/powerpoint/2010/main" val="447975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961053"/>
            <a:ext cx="11145985" cy="4991878"/>
          </a:xfrm>
        </p:spPr>
        <p:txBody>
          <a:bodyPr>
            <a:normAutofit lnSpcReduction="10000"/>
          </a:bodyPr>
          <a:lstStyle/>
          <a:p>
            <a:pPr>
              <a:buFontTx/>
              <a:buChar char="-"/>
            </a:pPr>
            <a:r>
              <a:rPr lang="es-ES" dirty="0"/>
              <a:t>El método </a:t>
            </a:r>
            <a:r>
              <a:rPr lang="es-ES" b="1" dirty="0" err="1"/>
              <a:t>slice</a:t>
            </a:r>
            <a:r>
              <a:rPr lang="es-ES" b="1" dirty="0"/>
              <a:t> </a:t>
            </a:r>
            <a:r>
              <a:rPr lang="es-ES" dirty="0"/>
              <a:t>devuelve un </a:t>
            </a:r>
            <a:r>
              <a:rPr lang="es-ES" dirty="0" err="1"/>
              <a:t>subarray</a:t>
            </a:r>
            <a:r>
              <a:rPr lang="es-ES" dirty="0"/>
              <a:t> con los elementos indicados, pero sin modificar el array original. Es muy útil para hacer copias de un array. La sintaxis es la siguiente:</a:t>
            </a:r>
          </a:p>
          <a:p>
            <a:pPr marL="0" indent="0">
              <a:buNone/>
            </a:pPr>
            <a:r>
              <a:rPr lang="es-ES" b="1" dirty="0"/>
              <a:t>              </a:t>
            </a:r>
            <a:r>
              <a:rPr lang="es-ES" b="1" dirty="0" err="1"/>
              <a:t>Array.slice</a:t>
            </a:r>
            <a:r>
              <a:rPr lang="es-ES" b="1" dirty="0"/>
              <a:t>(posición en la que empieza, posición en la que acaba)</a:t>
            </a:r>
          </a:p>
          <a:p>
            <a:pPr marL="0" indent="0">
              <a:buNone/>
            </a:pPr>
            <a:endParaRPr lang="es-ES" b="1" dirty="0"/>
          </a:p>
          <a:p>
            <a:pPr marL="0" indent="0">
              <a:buNone/>
            </a:pPr>
            <a:endParaRPr lang="es-ES" b="1" dirty="0"/>
          </a:p>
          <a:p>
            <a:pPr marL="0" indent="0">
              <a:buNone/>
            </a:pPr>
            <a:endParaRPr lang="es-ES" b="1" dirty="0"/>
          </a:p>
          <a:p>
            <a:pPr marL="0" indent="0">
              <a:buNone/>
            </a:pPr>
            <a:endParaRPr lang="es-ES" b="1" dirty="0"/>
          </a:p>
          <a:p>
            <a:pPr marL="0" indent="0">
              <a:buNone/>
            </a:pPr>
            <a:endParaRPr lang="es-ES" b="1" dirty="0"/>
          </a:p>
          <a:p>
            <a:pPr>
              <a:buFontTx/>
              <a:buChar char="-"/>
            </a:pPr>
            <a:r>
              <a:rPr lang="es-ES" b="1" dirty="0"/>
              <a:t>El método </a:t>
            </a:r>
            <a:r>
              <a:rPr lang="es-ES" b="1" dirty="0" err="1"/>
              <a:t>slice</a:t>
            </a:r>
            <a:r>
              <a:rPr lang="es-ES" b="1" dirty="0"/>
              <a:t> toma esos elementos, pero la posición en la que </a:t>
            </a:r>
            <a:r>
              <a:rPr lang="es-ES" dirty="0"/>
              <a:t>acaba</a:t>
            </a:r>
            <a:r>
              <a:rPr lang="es-ES" b="1" dirty="0"/>
              <a:t> no la coge. En el ejemplo anterior, al poner de 0 a 3, acaba en la posición 2 (gallina)</a:t>
            </a:r>
          </a:p>
          <a:p>
            <a:pPr>
              <a:buFontTx/>
              <a:buChar char="-"/>
            </a:pPr>
            <a:r>
              <a:rPr lang="es-ES" b="1" dirty="0" err="1"/>
              <a:t>animalesMitologicos.slice</a:t>
            </a:r>
            <a:r>
              <a:rPr lang="es-ES" b="1" dirty="0"/>
              <a:t>(0,animalesMitologicos.length) (copia array completo, con .</a:t>
            </a:r>
            <a:r>
              <a:rPr lang="es-ES" b="1" dirty="0" err="1"/>
              <a:t>length</a:t>
            </a:r>
            <a:r>
              <a:rPr lang="es-ES" b="1" dirty="0"/>
              <a:t>)</a:t>
            </a:r>
          </a:p>
          <a:p>
            <a:pPr>
              <a:buFontTx/>
              <a:buChar char="-"/>
            </a:pPr>
            <a:endParaRPr lang="es-ES" b="1" dirty="0"/>
          </a:p>
          <a:p>
            <a:pPr>
              <a:buFontTx/>
              <a:buChar char="-"/>
            </a:pPr>
            <a:endParaRPr lang="es-ES" b="1"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E886D01E-16F1-B4FF-4318-86ADB6B0B806}"/>
              </a:ext>
            </a:extLst>
          </p:cNvPr>
          <p:cNvPicPr>
            <a:picLocks noChangeAspect="1"/>
          </p:cNvPicPr>
          <p:nvPr/>
        </p:nvPicPr>
        <p:blipFill>
          <a:blip r:embed="rId2"/>
          <a:stretch>
            <a:fillRect/>
          </a:stretch>
        </p:blipFill>
        <p:spPr>
          <a:xfrm>
            <a:off x="960167" y="2892488"/>
            <a:ext cx="10271665" cy="1754156"/>
          </a:xfrm>
          <a:prstGeom prst="rect">
            <a:avLst/>
          </a:prstGeom>
        </p:spPr>
      </p:pic>
    </p:spTree>
    <p:extLst>
      <p:ext uri="{BB962C8B-B14F-4D97-AF65-F5344CB8AC3E}">
        <p14:creationId xmlns:p14="http://schemas.microsoft.com/office/powerpoint/2010/main" val="2758932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a:buFontTx/>
              <a:buChar char="-"/>
            </a:pPr>
            <a:r>
              <a:rPr lang="es-ES" dirty="0"/>
              <a:t>Cada objeto (y los </a:t>
            </a:r>
            <a:r>
              <a:rPr lang="es-ES" dirty="0" err="1"/>
              <a:t>arrays</a:t>
            </a:r>
            <a:r>
              <a:rPr lang="es-ES" dirty="0"/>
              <a:t> son un tipo de objeto) tienen definido el método .</a:t>
            </a:r>
            <a:r>
              <a:rPr lang="es-ES" dirty="0" err="1"/>
              <a:t>toString</a:t>
            </a:r>
            <a:r>
              <a:rPr lang="es-ES" dirty="0"/>
              <a:t>() que lo convierte en una cadena. Este método es llamado automáticamente cuando, por ejemplo, queremos mostrar un array por la consola. En realidad console.log(a) ejecuta console.log(</a:t>
            </a:r>
            <a:r>
              <a:rPr lang="es-ES" dirty="0" err="1"/>
              <a:t>a.toString</a:t>
            </a:r>
            <a:r>
              <a:rPr lang="es-ES" dirty="0"/>
              <a:t>()). En el caso de los </a:t>
            </a:r>
            <a:r>
              <a:rPr lang="es-ES" dirty="0" err="1"/>
              <a:t>arrays</a:t>
            </a:r>
            <a:r>
              <a:rPr lang="es-ES" dirty="0"/>
              <a:t> esta función devuelve una cadena con los elementos del array dentro de corchetes y separados por coma</a:t>
            </a:r>
          </a:p>
          <a:p>
            <a:pPr>
              <a:buFontTx/>
              <a:buChar char="-"/>
            </a:pPr>
            <a:r>
              <a:rPr lang="es-ES" dirty="0"/>
              <a:t>Podemos convertir los elementos de un array a una cadena con </a:t>
            </a:r>
            <a:r>
              <a:rPr lang="es-ES" b="1" dirty="0"/>
              <a:t>.</a:t>
            </a:r>
            <a:r>
              <a:rPr lang="es-ES" b="1" dirty="0" err="1"/>
              <a:t>join</a:t>
            </a:r>
            <a:r>
              <a:rPr lang="es-ES" b="1" dirty="0"/>
              <a:t>() </a:t>
            </a:r>
            <a:r>
              <a:rPr lang="es-ES" dirty="0"/>
              <a:t>especificando el carácter separador de los elementos.</a:t>
            </a:r>
          </a:p>
          <a:p>
            <a:pPr>
              <a:buFontTx/>
              <a:buChar char="-"/>
            </a:pPr>
            <a:r>
              <a:rPr lang="es-ES" dirty="0"/>
              <a:t>El método contrario es </a:t>
            </a:r>
            <a:r>
              <a:rPr lang="es-ES" b="1" dirty="0"/>
              <a:t>.</a:t>
            </a:r>
            <a:r>
              <a:rPr lang="es-ES" b="1" dirty="0" err="1"/>
              <a:t>split</a:t>
            </a:r>
            <a:r>
              <a:rPr lang="es-ES" b="1" dirty="0"/>
              <a:t>()</a:t>
            </a:r>
            <a:r>
              <a:rPr lang="es-ES" dirty="0"/>
              <a:t>,</a:t>
            </a:r>
            <a:r>
              <a:rPr lang="es-ES" b="1" dirty="0"/>
              <a:t> </a:t>
            </a:r>
            <a:r>
              <a:rPr lang="es-ES" dirty="0"/>
              <a:t>que convierte una cadena en un array separando la cadena por el carácter que le especifiquemos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72237CFE-EE02-3404-F4CD-19E3AFC195EF}"/>
              </a:ext>
            </a:extLst>
          </p:cNvPr>
          <p:cNvPicPr>
            <a:picLocks noChangeAspect="1"/>
          </p:cNvPicPr>
          <p:nvPr/>
        </p:nvPicPr>
        <p:blipFill>
          <a:blip r:embed="rId2"/>
          <a:stretch>
            <a:fillRect/>
          </a:stretch>
        </p:blipFill>
        <p:spPr>
          <a:xfrm>
            <a:off x="1559631" y="4245429"/>
            <a:ext cx="9072738" cy="1408922"/>
          </a:xfrm>
          <a:prstGeom prst="rect">
            <a:avLst/>
          </a:prstGeom>
        </p:spPr>
      </p:pic>
    </p:spTree>
    <p:extLst>
      <p:ext uri="{BB962C8B-B14F-4D97-AF65-F5344CB8AC3E}">
        <p14:creationId xmlns:p14="http://schemas.microsoft.com/office/powerpoint/2010/main" val="2339450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a:buFontTx/>
              <a:buChar char="-"/>
            </a:pPr>
            <a:r>
              <a:rPr lang="es-ES" dirty="0"/>
              <a:t>El método </a:t>
            </a:r>
            <a:r>
              <a:rPr lang="es-ES" b="1" dirty="0"/>
              <a:t>.</a:t>
            </a:r>
            <a:r>
              <a:rPr lang="es-ES" b="1" dirty="0" err="1"/>
              <a:t>sort</a:t>
            </a:r>
            <a:r>
              <a:rPr lang="es-ES" b="1" dirty="0"/>
              <a:t>() </a:t>
            </a:r>
            <a:r>
              <a:rPr lang="es-ES" dirty="0"/>
              <a:t>ordena alfabéticamente los elementos del array, cambiando el array original también.</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También podemos pasarle una función que le indique cómo ordenar, la cual devolverá un valor negativo si el primer elemento es mayor, positivo si el segundo es mayor o 0 si son iguales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10" name="Imagen 9">
            <a:extLst>
              <a:ext uri="{FF2B5EF4-FFF2-40B4-BE49-F238E27FC236}">
                <a16:creationId xmlns:a16="http://schemas.microsoft.com/office/drawing/2014/main" id="{44CB236A-F714-55A8-8EE3-8F3AB7DC824B}"/>
              </a:ext>
            </a:extLst>
          </p:cNvPr>
          <p:cNvPicPr>
            <a:picLocks noChangeAspect="1"/>
          </p:cNvPicPr>
          <p:nvPr/>
        </p:nvPicPr>
        <p:blipFill>
          <a:blip r:embed="rId2"/>
          <a:stretch>
            <a:fillRect/>
          </a:stretch>
        </p:blipFill>
        <p:spPr>
          <a:xfrm>
            <a:off x="2139611" y="2209882"/>
            <a:ext cx="7416317" cy="1858265"/>
          </a:xfrm>
          <a:prstGeom prst="rect">
            <a:avLst/>
          </a:prstGeom>
        </p:spPr>
      </p:pic>
    </p:spTree>
    <p:extLst>
      <p:ext uri="{BB962C8B-B14F-4D97-AF65-F5344CB8AC3E}">
        <p14:creationId xmlns:p14="http://schemas.microsoft.com/office/powerpoint/2010/main" val="223404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a:buFontTx/>
              <a:buChar char="-"/>
            </a:pPr>
            <a:r>
              <a:rPr lang="es-ES" dirty="0"/>
              <a:t>También podemos pasarle una función que le indique cómo ordenar, la cual devolverá un valor negativo si el primer elemento es mayor, positivo si el segundo es mayor o 0 si son iguales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321093F5-8DC7-C23C-FC2D-FB9743639B74}"/>
              </a:ext>
            </a:extLst>
          </p:cNvPr>
          <p:cNvPicPr>
            <a:picLocks noChangeAspect="1"/>
          </p:cNvPicPr>
          <p:nvPr/>
        </p:nvPicPr>
        <p:blipFill>
          <a:blip r:embed="rId2"/>
          <a:stretch>
            <a:fillRect/>
          </a:stretch>
        </p:blipFill>
        <p:spPr>
          <a:xfrm>
            <a:off x="2187733" y="2359669"/>
            <a:ext cx="8146557" cy="2902796"/>
          </a:xfrm>
          <a:prstGeom prst="rect">
            <a:avLst/>
          </a:prstGeom>
        </p:spPr>
      </p:pic>
    </p:spTree>
    <p:extLst>
      <p:ext uri="{BB962C8B-B14F-4D97-AF65-F5344CB8AC3E}">
        <p14:creationId xmlns:p14="http://schemas.microsoft.com/office/powerpoint/2010/main" val="416581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1FDA2CD9-13AF-0BDC-FFE6-84814B9447B2}"/>
              </a:ext>
            </a:extLst>
          </p:cNvPr>
          <p:cNvPicPr>
            <a:picLocks noChangeAspect="1"/>
          </p:cNvPicPr>
          <p:nvPr/>
        </p:nvPicPr>
        <p:blipFill>
          <a:blip r:embed="rId2"/>
          <a:stretch>
            <a:fillRect/>
          </a:stretch>
        </p:blipFill>
        <p:spPr>
          <a:xfrm>
            <a:off x="1771275" y="1739407"/>
            <a:ext cx="8649450" cy="2987299"/>
          </a:xfrm>
          <a:prstGeom prst="rect">
            <a:avLst/>
          </a:prstGeom>
        </p:spPr>
      </p:pic>
    </p:spTree>
    <p:extLst>
      <p:ext uri="{BB962C8B-B14F-4D97-AF65-F5344CB8AC3E}">
        <p14:creationId xmlns:p14="http://schemas.microsoft.com/office/powerpoint/2010/main" val="2806435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a:buFontTx/>
              <a:buChar char="-"/>
            </a:pPr>
            <a:r>
              <a:rPr lang="es-ES" dirty="0"/>
              <a:t>Otros métodos comunes que se usan a menudo con los </a:t>
            </a:r>
            <a:r>
              <a:rPr lang="es-ES" dirty="0" err="1"/>
              <a:t>arrays</a:t>
            </a:r>
            <a:r>
              <a:rPr lang="es-ES" dirty="0"/>
              <a:t> son:</a:t>
            </a:r>
          </a:p>
          <a:p>
            <a:pPr>
              <a:buFontTx/>
              <a:buChar char="-"/>
            </a:pPr>
            <a:r>
              <a:rPr lang="es-ES" b="1" dirty="0"/>
              <a:t>.</a:t>
            </a:r>
            <a:r>
              <a:rPr lang="es-ES" b="1" dirty="0" err="1"/>
              <a:t>concat</a:t>
            </a:r>
            <a:r>
              <a:rPr lang="es-ES" b="1" dirty="0"/>
              <a:t>() </a:t>
            </a:r>
            <a:r>
              <a:rPr lang="es-ES" dirty="0"/>
              <a:t>: concatena </a:t>
            </a:r>
            <a:r>
              <a:rPr lang="es-ES" dirty="0" err="1"/>
              <a:t>arrays</a:t>
            </a: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b="1" dirty="0"/>
              <a:t>.reverse() </a:t>
            </a:r>
            <a:r>
              <a:rPr lang="es-ES" dirty="0"/>
              <a:t>: invierte el orden de los elementos del array</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E272193C-108E-5EB8-3828-49DD8F042918}"/>
              </a:ext>
            </a:extLst>
          </p:cNvPr>
          <p:cNvPicPr>
            <a:picLocks noChangeAspect="1"/>
          </p:cNvPicPr>
          <p:nvPr/>
        </p:nvPicPr>
        <p:blipFill>
          <a:blip r:embed="rId2"/>
          <a:stretch>
            <a:fillRect/>
          </a:stretch>
        </p:blipFill>
        <p:spPr>
          <a:xfrm>
            <a:off x="2610556" y="2324680"/>
            <a:ext cx="5235394" cy="1219306"/>
          </a:xfrm>
          <a:prstGeom prst="rect">
            <a:avLst/>
          </a:prstGeom>
        </p:spPr>
      </p:pic>
      <p:pic>
        <p:nvPicPr>
          <p:cNvPr id="8" name="Imagen 7">
            <a:extLst>
              <a:ext uri="{FF2B5EF4-FFF2-40B4-BE49-F238E27FC236}">
                <a16:creationId xmlns:a16="http://schemas.microsoft.com/office/drawing/2014/main" id="{E82B1435-283F-14C4-E32B-42C4CC5754B9}"/>
              </a:ext>
            </a:extLst>
          </p:cNvPr>
          <p:cNvPicPr>
            <a:picLocks noChangeAspect="1"/>
          </p:cNvPicPr>
          <p:nvPr/>
        </p:nvPicPr>
        <p:blipFill>
          <a:blip r:embed="rId3"/>
          <a:stretch>
            <a:fillRect/>
          </a:stretch>
        </p:blipFill>
        <p:spPr>
          <a:xfrm>
            <a:off x="2610556" y="4317040"/>
            <a:ext cx="5675551" cy="1150925"/>
          </a:xfrm>
          <a:prstGeom prst="rect">
            <a:avLst/>
          </a:prstGeom>
        </p:spPr>
      </p:pic>
    </p:spTree>
    <p:extLst>
      <p:ext uri="{BB962C8B-B14F-4D97-AF65-F5344CB8AC3E}">
        <p14:creationId xmlns:p14="http://schemas.microsoft.com/office/powerpoint/2010/main" val="349058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2.5 – </a:t>
            </a:r>
            <a:r>
              <a:rPr lang="es-ES" dirty="0" err="1"/>
              <a:t>Arrays</a:t>
            </a:r>
            <a:r>
              <a:rPr lang="es-ES" dirty="0"/>
              <a:t>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23007" y="1321654"/>
            <a:ext cx="11145985" cy="4444664"/>
          </a:xfrm>
        </p:spPr>
        <p:txBody>
          <a:bodyPr>
            <a:normAutofit/>
          </a:bodyPr>
          <a:lstStyle/>
          <a:p>
            <a:pPr>
              <a:buFontTx/>
              <a:buChar char="-"/>
            </a:pPr>
            <a:r>
              <a:rPr lang="es-ES" b="1" dirty="0"/>
              <a:t>.</a:t>
            </a:r>
            <a:r>
              <a:rPr lang="es-ES" b="1" dirty="0" err="1"/>
              <a:t>indexOf</a:t>
            </a:r>
            <a:r>
              <a:rPr lang="es-ES" b="1" dirty="0"/>
              <a:t>()</a:t>
            </a:r>
            <a:r>
              <a:rPr lang="es-ES" dirty="0"/>
              <a:t>: devuelve la primera posición del elemento pasado como parámetro. Si no lo encuentra en el array, devuelve -1</a:t>
            </a:r>
          </a:p>
          <a:p>
            <a:pPr>
              <a:buFontTx/>
              <a:buChar char="-"/>
            </a:pPr>
            <a:endParaRPr lang="es-ES" dirty="0"/>
          </a:p>
          <a:p>
            <a:pPr>
              <a:buFontTx/>
              <a:buChar char="-"/>
            </a:pPr>
            <a:endParaRPr lang="es-ES" dirty="0"/>
          </a:p>
          <a:p>
            <a:pPr>
              <a:buFontTx/>
              <a:buChar char="-"/>
            </a:pPr>
            <a:endParaRPr lang="es-ES" dirty="0"/>
          </a:p>
          <a:p>
            <a:pPr>
              <a:buFontTx/>
              <a:buChar char="-"/>
            </a:pPr>
            <a:r>
              <a:rPr lang="es-ES" b="1" dirty="0"/>
              <a:t>.</a:t>
            </a:r>
            <a:r>
              <a:rPr lang="es-ES" b="1" dirty="0" err="1"/>
              <a:t>lastIndexOf</a:t>
            </a:r>
            <a:r>
              <a:rPr lang="es-ES" b="1" dirty="0"/>
              <a:t>() </a:t>
            </a:r>
            <a:r>
              <a:rPr lang="es-ES" dirty="0"/>
              <a:t>: devuelve la última posición del elemento pasado como parámetro. Si no lo encuentra en el array, devuelve -1</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7A24F96F-8A59-7F87-360A-8163F67242A7}"/>
              </a:ext>
            </a:extLst>
          </p:cNvPr>
          <p:cNvPicPr>
            <a:picLocks noChangeAspect="1"/>
          </p:cNvPicPr>
          <p:nvPr/>
        </p:nvPicPr>
        <p:blipFill>
          <a:blip r:embed="rId2"/>
          <a:stretch>
            <a:fillRect/>
          </a:stretch>
        </p:blipFill>
        <p:spPr>
          <a:xfrm>
            <a:off x="2547396" y="2170648"/>
            <a:ext cx="6288163" cy="1057744"/>
          </a:xfrm>
          <a:prstGeom prst="rect">
            <a:avLst/>
          </a:prstGeom>
        </p:spPr>
      </p:pic>
      <p:pic>
        <p:nvPicPr>
          <p:cNvPr id="9" name="Imagen 8">
            <a:extLst>
              <a:ext uri="{FF2B5EF4-FFF2-40B4-BE49-F238E27FC236}">
                <a16:creationId xmlns:a16="http://schemas.microsoft.com/office/drawing/2014/main" id="{0263E4C3-0928-C1E4-E6E2-425C753AEEF4}"/>
              </a:ext>
            </a:extLst>
          </p:cNvPr>
          <p:cNvPicPr>
            <a:picLocks noChangeAspect="1"/>
          </p:cNvPicPr>
          <p:nvPr/>
        </p:nvPicPr>
        <p:blipFill>
          <a:blip r:embed="rId3"/>
          <a:stretch>
            <a:fillRect/>
          </a:stretch>
        </p:blipFill>
        <p:spPr>
          <a:xfrm>
            <a:off x="2547396" y="4356353"/>
            <a:ext cx="6680617" cy="981928"/>
          </a:xfrm>
          <a:prstGeom prst="rect">
            <a:avLst/>
          </a:prstGeom>
        </p:spPr>
      </p:pic>
    </p:spTree>
    <p:extLst>
      <p:ext uri="{BB962C8B-B14F-4D97-AF65-F5344CB8AC3E}">
        <p14:creationId xmlns:p14="http://schemas.microsoft.com/office/powerpoint/2010/main" val="4163620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36894" y="1060397"/>
            <a:ext cx="11145985" cy="4444664"/>
          </a:xfrm>
        </p:spPr>
        <p:txBody>
          <a:bodyPr>
            <a:normAutofit lnSpcReduction="10000"/>
          </a:bodyPr>
          <a:lstStyle/>
          <a:p>
            <a:pPr>
              <a:buFontTx/>
              <a:buChar char="-"/>
            </a:pPr>
            <a:r>
              <a:rPr lang="es-ES" dirty="0"/>
              <a:t>Las funciones son bloques de código que podemos definir una vez y reutilizar varias veces</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Se definen con la palabra clave </a:t>
            </a:r>
            <a:r>
              <a:rPr lang="es-ES" dirty="0" err="1"/>
              <a:t>function</a:t>
            </a:r>
            <a:r>
              <a:rPr lang="es-ES" dirty="0"/>
              <a:t>.</a:t>
            </a:r>
          </a:p>
          <a:p>
            <a:pPr>
              <a:buFontTx/>
              <a:buChar char="-"/>
            </a:pPr>
            <a:r>
              <a:rPr lang="es-ES" dirty="0"/>
              <a:t>Pueden recibir parámetros y devolver un resultado con la palabra </a:t>
            </a:r>
            <a:r>
              <a:rPr lang="es-ES" dirty="0" err="1"/>
              <a:t>return</a:t>
            </a:r>
            <a:r>
              <a:rPr lang="es-ES" dirty="0"/>
              <a:t>,</a:t>
            </a:r>
          </a:p>
          <a:p>
            <a:pPr>
              <a:buFontTx/>
              <a:buChar char="-"/>
            </a:pPr>
            <a:r>
              <a:rPr lang="es-ES" dirty="0"/>
              <a:t>Tienen su propio </a:t>
            </a:r>
            <a:r>
              <a:rPr lang="es-ES" dirty="0" err="1"/>
              <a:t>scope</a:t>
            </a:r>
            <a:r>
              <a:rPr lang="es-ES" dirty="0"/>
              <a:t> (alcance de variables. Si definimos las variables con </a:t>
            </a:r>
            <a:r>
              <a:rPr lang="es-ES" dirty="0" err="1"/>
              <a:t>let</a:t>
            </a:r>
            <a:r>
              <a:rPr lang="es-ES" dirty="0"/>
              <a:t>, el </a:t>
            </a:r>
            <a:r>
              <a:rPr lang="es-ES" dirty="0" err="1"/>
              <a:t>scope</a:t>
            </a:r>
            <a:r>
              <a:rPr lang="es-ES" dirty="0"/>
              <a:t> de estas es solo dentro de las llaves de la función)</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2575B004-32FC-3F12-3CEC-293D11A9B8B4}"/>
              </a:ext>
            </a:extLst>
          </p:cNvPr>
          <p:cNvPicPr>
            <a:picLocks noChangeAspect="1"/>
          </p:cNvPicPr>
          <p:nvPr/>
        </p:nvPicPr>
        <p:blipFill>
          <a:blip r:embed="rId2"/>
          <a:stretch>
            <a:fillRect/>
          </a:stretch>
        </p:blipFill>
        <p:spPr>
          <a:xfrm>
            <a:off x="3097840" y="1763485"/>
            <a:ext cx="4947877" cy="1851721"/>
          </a:xfrm>
          <a:prstGeom prst="rect">
            <a:avLst/>
          </a:prstGeom>
        </p:spPr>
      </p:pic>
    </p:spTree>
    <p:extLst>
      <p:ext uri="{BB962C8B-B14F-4D97-AF65-F5344CB8AC3E}">
        <p14:creationId xmlns:p14="http://schemas.microsoft.com/office/powerpoint/2010/main" val="2805144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F7832-E510-561E-F32D-46DBC9A173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DE0F12F-5FC7-A001-DD50-B62B7311C307}"/>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51C309F5-33FE-696C-E9A7-A53DBCB110ED}"/>
              </a:ext>
            </a:extLst>
          </p:cNvPr>
          <p:cNvSpPr>
            <a:spLocks noGrp="1"/>
          </p:cNvSpPr>
          <p:nvPr>
            <p:ph idx="1"/>
          </p:nvPr>
        </p:nvSpPr>
        <p:spPr>
          <a:xfrm>
            <a:off x="436894" y="1060397"/>
            <a:ext cx="11145985" cy="4444664"/>
          </a:xfrm>
        </p:spPr>
        <p:txBody>
          <a:bodyPr>
            <a:normAutofit/>
          </a:bodyPr>
          <a:lstStyle/>
          <a:p>
            <a:pPr>
              <a:buFontTx/>
              <a:buChar char="-"/>
            </a:pPr>
            <a:r>
              <a:rPr lang="es-ES" dirty="0"/>
              <a:t>Si dotamos de un valor a un parámetro en la función (valor por defecto) y llamamos a la función sin darle valor a ese parámetro, la función va a tomar ese valor por defecto:</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Si no pusiéramos un valor por defecto, en el segundo caso pondría “Buenos días </a:t>
            </a:r>
            <a:r>
              <a:rPr lang="es-ES" dirty="0" err="1"/>
              <a:t>undefined</a:t>
            </a:r>
            <a:r>
              <a:rPr lang="es-ES" dirty="0"/>
              <a:t>”, pero no fallaría </a:t>
            </a:r>
            <a:r>
              <a:rPr lang="es-ES"/>
              <a:t>el código</a:t>
            </a: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5CBCEE83-FDF5-FD95-343D-CAA897D949D0}"/>
              </a:ext>
            </a:extLst>
          </p:cNvPr>
          <p:cNvPicPr>
            <a:picLocks noChangeAspect="1"/>
          </p:cNvPicPr>
          <p:nvPr/>
        </p:nvPicPr>
        <p:blipFill>
          <a:blip r:embed="rId2"/>
          <a:stretch>
            <a:fillRect/>
          </a:stretch>
        </p:blipFill>
        <p:spPr>
          <a:xfrm>
            <a:off x="1403354" y="1828800"/>
            <a:ext cx="9385292" cy="2194947"/>
          </a:xfrm>
          <a:prstGeom prst="rect">
            <a:avLst/>
          </a:prstGeom>
        </p:spPr>
      </p:pic>
    </p:spTree>
    <p:extLst>
      <p:ext uri="{BB962C8B-B14F-4D97-AF65-F5344CB8AC3E}">
        <p14:creationId xmlns:p14="http://schemas.microsoft.com/office/powerpoint/2010/main" val="3432742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B114F-CE70-A4AF-AE50-DD76B86AAA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035150-CBE1-1B9B-7754-FB844B0AEF6D}"/>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2FD31F9C-C09D-9EFA-E950-495C2D8778BF}"/>
              </a:ext>
            </a:extLst>
          </p:cNvPr>
          <p:cNvSpPr>
            <a:spLocks noGrp="1"/>
          </p:cNvSpPr>
          <p:nvPr>
            <p:ph idx="1"/>
          </p:nvPr>
        </p:nvSpPr>
        <p:spPr>
          <a:xfrm>
            <a:off x="436894" y="1060397"/>
            <a:ext cx="11145985" cy="4444664"/>
          </a:xfrm>
        </p:spPr>
        <p:txBody>
          <a:bodyPr>
            <a:normAutofit/>
          </a:bodyPr>
          <a:lstStyle/>
          <a:p>
            <a:pPr>
              <a:buFontTx/>
              <a:buChar char="-"/>
            </a:pPr>
            <a:r>
              <a:rPr lang="es-ES" dirty="0"/>
              <a:t>A partir de ES6 (es una mejora importante del lenguaje JavaScript, el estándar que sigue desde Junio del 2015) se introdujo una forma más corta de escribir funciones: las funciones flecha. Esta es una función normal a la que le pasamos un parámetro que suma dos veces y retorna su valor</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3694AB3E-9124-3B05-1951-A0D4035DFE21}"/>
              </a:ext>
            </a:extLst>
          </p:cNvPr>
          <p:cNvPicPr>
            <a:picLocks noChangeAspect="1"/>
          </p:cNvPicPr>
          <p:nvPr/>
        </p:nvPicPr>
        <p:blipFill>
          <a:blip r:embed="rId2"/>
          <a:stretch>
            <a:fillRect/>
          </a:stretch>
        </p:blipFill>
        <p:spPr>
          <a:xfrm>
            <a:off x="2639841" y="2062847"/>
            <a:ext cx="5954338" cy="3124973"/>
          </a:xfrm>
          <a:prstGeom prst="rect">
            <a:avLst/>
          </a:prstGeom>
        </p:spPr>
      </p:pic>
    </p:spTree>
    <p:extLst>
      <p:ext uri="{BB962C8B-B14F-4D97-AF65-F5344CB8AC3E}">
        <p14:creationId xmlns:p14="http://schemas.microsoft.com/office/powerpoint/2010/main" val="143249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0462-98C6-BD23-F5C8-BDB75D4D99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26CAC6-27E5-2085-EBC5-109A40D998C7}"/>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633EDA35-2855-BD28-4DD4-FEE496DED856}"/>
              </a:ext>
            </a:extLst>
          </p:cNvPr>
          <p:cNvSpPr>
            <a:spLocks noGrp="1"/>
          </p:cNvSpPr>
          <p:nvPr>
            <p:ph idx="1"/>
          </p:nvPr>
        </p:nvSpPr>
        <p:spPr>
          <a:xfrm>
            <a:off x="436894" y="1060397"/>
            <a:ext cx="11145985" cy="4444664"/>
          </a:xfrm>
        </p:spPr>
        <p:txBody>
          <a:bodyPr>
            <a:normAutofit/>
          </a:bodyPr>
          <a:lstStyle/>
          <a:p>
            <a:pPr>
              <a:buFontTx/>
              <a:buChar char="-"/>
            </a:pPr>
            <a:r>
              <a:rPr lang="es-ES" dirty="0"/>
              <a:t>Misma función de antes, pero convertida en una función flecha</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En la constante suma estamos guardando la función flecha en su totalidad (ojo, no el valor de retorno).</a:t>
            </a:r>
          </a:p>
          <a:p>
            <a:pPr>
              <a:buFontTx/>
              <a:buChar char="-"/>
            </a:pPr>
            <a:r>
              <a:rPr lang="es-ES" dirty="0"/>
              <a:t>Al invocar a suma en el console.log, es como si dijéramos: abre la caja suma, usa la función de su interior pasándole el valor 10</a:t>
            </a:r>
          </a:p>
          <a:p>
            <a:pPr>
              <a:buFontTx/>
              <a:buChar char="-"/>
            </a:pPr>
            <a:r>
              <a:rPr lang="es-ES" dirty="0"/>
              <a:t>Si la función flecha solo tiene una expresión (numero + numero), el </a:t>
            </a:r>
            <a:r>
              <a:rPr lang="es-ES" dirty="0" err="1"/>
              <a:t>return</a:t>
            </a:r>
            <a:r>
              <a:rPr lang="es-ES" dirty="0"/>
              <a:t> es implícito.</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85FC633A-34E0-18AD-5B41-6D2162711412}"/>
              </a:ext>
            </a:extLst>
          </p:cNvPr>
          <p:cNvPicPr>
            <a:picLocks noChangeAspect="1"/>
          </p:cNvPicPr>
          <p:nvPr/>
        </p:nvPicPr>
        <p:blipFill>
          <a:blip r:embed="rId2"/>
          <a:stretch>
            <a:fillRect/>
          </a:stretch>
        </p:blipFill>
        <p:spPr>
          <a:xfrm>
            <a:off x="1682621" y="1604865"/>
            <a:ext cx="8416410" cy="1402735"/>
          </a:xfrm>
          <a:prstGeom prst="rect">
            <a:avLst/>
          </a:prstGeom>
        </p:spPr>
      </p:pic>
    </p:spTree>
    <p:extLst>
      <p:ext uri="{BB962C8B-B14F-4D97-AF65-F5344CB8AC3E}">
        <p14:creationId xmlns:p14="http://schemas.microsoft.com/office/powerpoint/2010/main" val="3758215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0C99C-7E0A-41C4-2518-533A35FBF7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373117-852E-811A-9E7F-B2BE921AF8E5}"/>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B472D2AF-D0D4-316E-F67A-8C2C66737968}"/>
              </a:ext>
            </a:extLst>
          </p:cNvPr>
          <p:cNvSpPr>
            <a:spLocks noGrp="1"/>
          </p:cNvSpPr>
          <p:nvPr>
            <p:ph idx="1"/>
          </p:nvPr>
        </p:nvSpPr>
        <p:spPr>
          <a:xfrm>
            <a:off x="436894" y="1060397"/>
            <a:ext cx="11145985" cy="4444664"/>
          </a:xfrm>
        </p:spPr>
        <p:txBody>
          <a:bodyPr>
            <a:normAutofit/>
          </a:bodyPr>
          <a:lstStyle/>
          <a:p>
            <a:pPr>
              <a:buFontTx/>
              <a:buChar char="-"/>
            </a:pPr>
            <a:r>
              <a:rPr lang="es-ES" dirty="0"/>
              <a:t>Si la función flecha tiene más de una instrucción, hay que poner el </a:t>
            </a:r>
            <a:r>
              <a:rPr lang="es-ES" dirty="0" err="1"/>
              <a:t>return</a:t>
            </a:r>
            <a:r>
              <a:rPr lang="es-ES" dirty="0"/>
              <a:t> y usar el bloque de estas instrucciones con las llaves {  } :</a:t>
            </a:r>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C1CDE95D-613B-6008-2A51-76130A05F7F1}"/>
              </a:ext>
            </a:extLst>
          </p:cNvPr>
          <p:cNvPicPr>
            <a:picLocks noChangeAspect="1"/>
          </p:cNvPicPr>
          <p:nvPr/>
        </p:nvPicPr>
        <p:blipFill>
          <a:blip r:embed="rId2"/>
          <a:stretch>
            <a:fillRect/>
          </a:stretch>
        </p:blipFill>
        <p:spPr>
          <a:xfrm>
            <a:off x="1660890" y="1710825"/>
            <a:ext cx="8499428" cy="3436349"/>
          </a:xfrm>
          <a:prstGeom prst="rect">
            <a:avLst/>
          </a:prstGeom>
        </p:spPr>
      </p:pic>
    </p:spTree>
    <p:extLst>
      <p:ext uri="{BB962C8B-B14F-4D97-AF65-F5344CB8AC3E}">
        <p14:creationId xmlns:p14="http://schemas.microsoft.com/office/powerpoint/2010/main" val="705065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21D10-0E40-3361-8811-648D8F7AC7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83EDB5-2C7D-7E84-CBE6-4BBFB8554B38}"/>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E0EB1F93-302A-ECB2-A413-21AF0D96DCA7}"/>
              </a:ext>
            </a:extLst>
          </p:cNvPr>
          <p:cNvSpPr>
            <a:spLocks noGrp="1"/>
          </p:cNvSpPr>
          <p:nvPr>
            <p:ph idx="1"/>
          </p:nvPr>
        </p:nvSpPr>
        <p:spPr>
          <a:xfrm>
            <a:off x="436894" y="1060397"/>
            <a:ext cx="11145985" cy="4444664"/>
          </a:xfrm>
        </p:spPr>
        <p:txBody>
          <a:bodyPr>
            <a:normAutofit/>
          </a:bodyPr>
          <a:lstStyle/>
          <a:p>
            <a:pPr>
              <a:buFontTx/>
              <a:buChar char="-"/>
            </a:pPr>
            <a:r>
              <a:rPr lang="es-ES" dirty="0"/>
              <a:t>Por último, las funciones </a:t>
            </a:r>
            <a:r>
              <a:rPr lang="es-ES" dirty="0" err="1"/>
              <a:t>callback</a:t>
            </a:r>
            <a:r>
              <a:rPr lang="es-ES" dirty="0"/>
              <a:t> son funciones que se pasan como argumento a otra función y que será llamada más adelante, cuando algo ocurra.</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8" name="Imagen 7">
            <a:extLst>
              <a:ext uri="{FF2B5EF4-FFF2-40B4-BE49-F238E27FC236}">
                <a16:creationId xmlns:a16="http://schemas.microsoft.com/office/drawing/2014/main" id="{3FBE4245-CE06-D3C0-4D06-C748DD81A037}"/>
              </a:ext>
            </a:extLst>
          </p:cNvPr>
          <p:cNvPicPr>
            <a:picLocks noChangeAspect="1"/>
          </p:cNvPicPr>
          <p:nvPr/>
        </p:nvPicPr>
        <p:blipFill>
          <a:blip r:embed="rId2"/>
          <a:stretch>
            <a:fillRect/>
          </a:stretch>
        </p:blipFill>
        <p:spPr>
          <a:xfrm>
            <a:off x="1232430" y="2607913"/>
            <a:ext cx="9554912" cy="1349632"/>
          </a:xfrm>
          <a:prstGeom prst="rect">
            <a:avLst/>
          </a:prstGeom>
        </p:spPr>
      </p:pic>
    </p:spTree>
    <p:extLst>
      <p:ext uri="{BB962C8B-B14F-4D97-AF65-F5344CB8AC3E}">
        <p14:creationId xmlns:p14="http://schemas.microsoft.com/office/powerpoint/2010/main" val="4222788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7EC37-C6E2-572B-9937-46B9AB6AFA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BC0142-09B1-A65D-CFEE-7F91D94DC2A5}"/>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18F9B0AC-7C39-3832-5880-0D8DB5DD695E}"/>
              </a:ext>
            </a:extLst>
          </p:cNvPr>
          <p:cNvSpPr>
            <a:spLocks noGrp="1"/>
          </p:cNvSpPr>
          <p:nvPr>
            <p:ph idx="1"/>
          </p:nvPr>
        </p:nvSpPr>
        <p:spPr>
          <a:xfrm>
            <a:off x="436894" y="1060397"/>
            <a:ext cx="11145985" cy="4444664"/>
          </a:xfrm>
        </p:spPr>
        <p:txBody>
          <a:bodyPr>
            <a:normAutofit lnSpcReduction="10000"/>
          </a:bodyPr>
          <a:lstStyle/>
          <a:p>
            <a:pPr>
              <a:buFontTx/>
              <a:buChar char="-"/>
            </a:pPr>
            <a:r>
              <a:rPr lang="es-ES" dirty="0"/>
              <a:t>El ejemplo anterior más claro</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Aquí no ponemos saludar() porque eso ejecutaría la función inmediatamente.</a:t>
            </a:r>
          </a:p>
          <a:p>
            <a:pPr>
              <a:buFontTx/>
              <a:buChar char="-"/>
            </a:pPr>
            <a:r>
              <a:rPr lang="es-ES" dirty="0"/>
              <a:t>Solo le pasamos la referencia a la función saludar para que </a:t>
            </a:r>
            <a:r>
              <a:rPr lang="es-ES" dirty="0" err="1"/>
              <a:t>addEventListener</a:t>
            </a:r>
            <a:r>
              <a:rPr lang="es-ES" dirty="0"/>
              <a:t> (que es una función, un evento escuchador) la ejecute después, cuando corresponda (cuando el contenido del DOM haya sido cargado, no antes)</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967C451A-5FBC-C44F-AFDB-E7A8A06CE357}"/>
              </a:ext>
            </a:extLst>
          </p:cNvPr>
          <p:cNvPicPr>
            <a:picLocks noChangeAspect="1"/>
          </p:cNvPicPr>
          <p:nvPr/>
        </p:nvPicPr>
        <p:blipFill>
          <a:blip r:embed="rId2"/>
          <a:stretch>
            <a:fillRect/>
          </a:stretch>
        </p:blipFill>
        <p:spPr>
          <a:xfrm>
            <a:off x="1615780" y="1779690"/>
            <a:ext cx="8788212" cy="2352935"/>
          </a:xfrm>
          <a:prstGeom prst="rect">
            <a:avLst/>
          </a:prstGeom>
        </p:spPr>
      </p:pic>
    </p:spTree>
    <p:extLst>
      <p:ext uri="{BB962C8B-B14F-4D97-AF65-F5344CB8AC3E}">
        <p14:creationId xmlns:p14="http://schemas.microsoft.com/office/powerpoint/2010/main" val="724060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FA491-9699-3733-C84D-B58F4B10F8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FAB5ED-B5A5-E8BD-C2EE-43B6207CDA80}"/>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2AD4F23C-BEAC-0108-81E0-E58A5E44D339}"/>
              </a:ext>
            </a:extLst>
          </p:cNvPr>
          <p:cNvSpPr>
            <a:spLocks noGrp="1"/>
          </p:cNvSpPr>
          <p:nvPr>
            <p:ph idx="1"/>
          </p:nvPr>
        </p:nvSpPr>
        <p:spPr>
          <a:xfrm>
            <a:off x="436894" y="1060397"/>
            <a:ext cx="11145985" cy="4444664"/>
          </a:xfrm>
        </p:spPr>
        <p:txBody>
          <a:bodyPr>
            <a:normAutofit/>
          </a:bodyPr>
          <a:lstStyle/>
          <a:p>
            <a:pPr>
              <a:buFontTx/>
              <a:buChar char="-"/>
            </a:pPr>
            <a:r>
              <a:rPr lang="es-ES" dirty="0"/>
              <a:t>Vamos a ver unos cuantos ejemplos de funciones </a:t>
            </a:r>
            <a:r>
              <a:rPr lang="es-ES" dirty="0" err="1"/>
              <a:t>callback</a:t>
            </a:r>
            <a:r>
              <a:rPr lang="es-ES" dirty="0"/>
              <a:t>. </a:t>
            </a:r>
            <a:r>
              <a:rPr lang="es-ES" dirty="0" err="1"/>
              <a:t>Callbacks</a:t>
            </a:r>
            <a:r>
              <a:rPr lang="es-ES" dirty="0"/>
              <a:t> en eventos del DOM:</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7" name="Imagen 6">
            <a:extLst>
              <a:ext uri="{FF2B5EF4-FFF2-40B4-BE49-F238E27FC236}">
                <a16:creationId xmlns:a16="http://schemas.microsoft.com/office/drawing/2014/main" id="{F1E2E97C-8D7C-FFA4-5787-EE3D8AB27EB8}"/>
              </a:ext>
            </a:extLst>
          </p:cNvPr>
          <p:cNvPicPr>
            <a:picLocks noChangeAspect="1"/>
          </p:cNvPicPr>
          <p:nvPr/>
        </p:nvPicPr>
        <p:blipFill>
          <a:blip r:embed="rId2"/>
          <a:stretch>
            <a:fillRect/>
          </a:stretch>
        </p:blipFill>
        <p:spPr>
          <a:xfrm>
            <a:off x="2463281" y="1565920"/>
            <a:ext cx="6764029" cy="4231683"/>
          </a:xfrm>
          <a:prstGeom prst="rect">
            <a:avLst/>
          </a:prstGeom>
        </p:spPr>
      </p:pic>
    </p:spTree>
    <p:extLst>
      <p:ext uri="{BB962C8B-B14F-4D97-AF65-F5344CB8AC3E}">
        <p14:creationId xmlns:p14="http://schemas.microsoft.com/office/powerpoint/2010/main" val="878484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624C5-E5E7-5C1C-9425-052801F9F3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F3F54D-A3D3-8A97-FCFE-9B1EC7EE4ABE}"/>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0C6CD6DC-F3F7-67EE-FE4B-81CC9B847EBD}"/>
              </a:ext>
            </a:extLst>
          </p:cNvPr>
          <p:cNvSpPr>
            <a:spLocks noGrp="1"/>
          </p:cNvSpPr>
          <p:nvPr>
            <p:ph idx="1"/>
          </p:nvPr>
        </p:nvSpPr>
        <p:spPr>
          <a:xfrm>
            <a:off x="436894" y="1060397"/>
            <a:ext cx="11145985" cy="4444664"/>
          </a:xfrm>
        </p:spPr>
        <p:txBody>
          <a:bodyPr>
            <a:normAutofit/>
          </a:bodyPr>
          <a:lstStyle/>
          <a:p>
            <a:pPr>
              <a:buFontTx/>
              <a:buChar char="-"/>
            </a:pPr>
            <a:r>
              <a:rPr lang="es-ES" dirty="0" err="1"/>
              <a:t>Callbacks</a:t>
            </a:r>
            <a:r>
              <a:rPr lang="es-ES" dirty="0"/>
              <a:t> en temporizadores. El </a:t>
            </a:r>
            <a:r>
              <a:rPr lang="es-ES" dirty="0" err="1"/>
              <a:t>callback</a:t>
            </a:r>
            <a:r>
              <a:rPr lang="es-ES" dirty="0"/>
              <a:t> se ejecuta después de 2 segundos, por lo que la consola mostrará Inicio, Fin y, tras dos segundos, la frase:</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D721FE26-B757-66DD-A29C-B8ACF1C90279}"/>
              </a:ext>
            </a:extLst>
          </p:cNvPr>
          <p:cNvPicPr>
            <a:picLocks noChangeAspect="1"/>
          </p:cNvPicPr>
          <p:nvPr/>
        </p:nvPicPr>
        <p:blipFill>
          <a:blip r:embed="rId2"/>
          <a:stretch>
            <a:fillRect/>
          </a:stretch>
        </p:blipFill>
        <p:spPr>
          <a:xfrm>
            <a:off x="2146041" y="1899640"/>
            <a:ext cx="6701744" cy="3605421"/>
          </a:xfrm>
          <a:prstGeom prst="rect">
            <a:avLst/>
          </a:prstGeom>
        </p:spPr>
      </p:pic>
    </p:spTree>
    <p:extLst>
      <p:ext uri="{BB962C8B-B14F-4D97-AF65-F5344CB8AC3E}">
        <p14:creationId xmlns:p14="http://schemas.microsoft.com/office/powerpoint/2010/main" val="1383582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CC7A-2745-D095-400C-8E1F41E856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BED070-0FED-745F-E924-E65315F75CB8}"/>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C8384B34-0168-A144-6587-D74D1B90FF1D}"/>
              </a:ext>
            </a:extLst>
          </p:cNvPr>
          <p:cNvSpPr>
            <a:spLocks noGrp="1"/>
          </p:cNvSpPr>
          <p:nvPr>
            <p:ph idx="1"/>
          </p:nvPr>
        </p:nvSpPr>
        <p:spPr>
          <a:xfrm>
            <a:off x="436894" y="1060397"/>
            <a:ext cx="11145985" cy="4444664"/>
          </a:xfrm>
        </p:spPr>
        <p:txBody>
          <a:bodyPr>
            <a:normAutofit lnSpcReduction="10000"/>
          </a:bodyPr>
          <a:lstStyle/>
          <a:p>
            <a:pPr>
              <a:buFontTx/>
              <a:buChar char="-"/>
            </a:pPr>
            <a:r>
              <a:rPr lang="es-ES" dirty="0" err="1"/>
              <a:t>Callbacks</a:t>
            </a:r>
            <a:r>
              <a:rPr lang="es-ES" dirty="0"/>
              <a:t> en </a:t>
            </a:r>
            <a:r>
              <a:rPr lang="es-ES" dirty="0" err="1"/>
              <a:t>arrays</a:t>
            </a:r>
            <a:r>
              <a:rPr lang="es-ES" dirty="0"/>
              <a:t> (</a:t>
            </a:r>
            <a:r>
              <a:rPr lang="es-ES" dirty="0" err="1"/>
              <a:t>map</a:t>
            </a:r>
            <a:r>
              <a:rPr lang="es-ES" dirty="0"/>
              <a:t>, </a:t>
            </a:r>
            <a:r>
              <a:rPr lang="es-ES" dirty="0" err="1"/>
              <a:t>forEach</a:t>
            </a:r>
            <a:r>
              <a:rPr lang="es-ES" dirty="0"/>
              <a:t>, </a:t>
            </a:r>
            <a:r>
              <a:rPr lang="es-ES" dirty="0" err="1"/>
              <a:t>filter</a:t>
            </a:r>
            <a:r>
              <a:rPr lang="es-ES" dirty="0"/>
              <a:t>)</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¿Cómo sería el ejemplo anterior usando una función flecha y multiplicando cada número por tres?</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ADE16388-E37D-1FFA-E685-8036FD6EB5CE}"/>
              </a:ext>
            </a:extLst>
          </p:cNvPr>
          <p:cNvPicPr>
            <a:picLocks noChangeAspect="1"/>
          </p:cNvPicPr>
          <p:nvPr/>
        </p:nvPicPr>
        <p:blipFill>
          <a:blip r:embed="rId2"/>
          <a:stretch>
            <a:fillRect/>
          </a:stretch>
        </p:blipFill>
        <p:spPr>
          <a:xfrm>
            <a:off x="969049" y="1460241"/>
            <a:ext cx="10253901" cy="3209730"/>
          </a:xfrm>
          <a:prstGeom prst="rect">
            <a:avLst/>
          </a:prstGeom>
        </p:spPr>
      </p:pic>
    </p:spTree>
    <p:extLst>
      <p:ext uri="{BB962C8B-B14F-4D97-AF65-F5344CB8AC3E}">
        <p14:creationId xmlns:p14="http://schemas.microsoft.com/office/powerpoint/2010/main" val="3630384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6DFD3-AEC9-E42E-3CEA-6A64149BD8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5E9718-8AAE-9CEB-8B6F-62AB4A3ADAFD}"/>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26621C3F-8D0A-B363-19B2-C74A1017222C}"/>
              </a:ext>
            </a:extLst>
          </p:cNvPr>
          <p:cNvSpPr>
            <a:spLocks noGrp="1"/>
          </p:cNvSpPr>
          <p:nvPr>
            <p:ph idx="1"/>
          </p:nvPr>
        </p:nvSpPr>
        <p:spPr>
          <a:xfrm>
            <a:off x="436894" y="1060397"/>
            <a:ext cx="11145985" cy="4444664"/>
          </a:xfrm>
        </p:spPr>
        <p:txBody>
          <a:bodyPr>
            <a:normAutofit lnSpcReduction="10000"/>
          </a:bodyPr>
          <a:lstStyle/>
          <a:p>
            <a:pPr>
              <a:buFontTx/>
              <a:buChar char="-"/>
            </a:pPr>
            <a:r>
              <a:rPr lang="es-ES" dirty="0"/>
              <a:t>Solución:</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r>
              <a:rPr lang="es-ES" dirty="0"/>
              <a:t>- La función </a:t>
            </a:r>
            <a:r>
              <a:rPr lang="es-ES" dirty="0" err="1"/>
              <a:t>map</a:t>
            </a:r>
            <a:r>
              <a:rPr lang="es-ES" dirty="0"/>
              <a:t> va llamando al </a:t>
            </a:r>
            <a:r>
              <a:rPr lang="es-ES" dirty="0" err="1"/>
              <a:t>callback</a:t>
            </a:r>
            <a:r>
              <a:rPr lang="es-ES" dirty="0"/>
              <a:t> una vez por cada elemento del array</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5C51E3E5-C640-C8CA-DB13-405774DC23A3}"/>
              </a:ext>
            </a:extLst>
          </p:cNvPr>
          <p:cNvPicPr>
            <a:picLocks noChangeAspect="1"/>
          </p:cNvPicPr>
          <p:nvPr/>
        </p:nvPicPr>
        <p:blipFill>
          <a:blip r:embed="rId2"/>
          <a:stretch>
            <a:fillRect/>
          </a:stretch>
        </p:blipFill>
        <p:spPr>
          <a:xfrm>
            <a:off x="1842639" y="1217596"/>
            <a:ext cx="8334493" cy="3862971"/>
          </a:xfrm>
          <a:prstGeom prst="rect">
            <a:avLst/>
          </a:prstGeom>
        </p:spPr>
      </p:pic>
    </p:spTree>
    <p:extLst>
      <p:ext uri="{BB962C8B-B14F-4D97-AF65-F5344CB8AC3E}">
        <p14:creationId xmlns:p14="http://schemas.microsoft.com/office/powerpoint/2010/main" val="1117879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DFC2A-7B9A-EED7-FF4F-7DA1471882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0B60D7-A46C-60C7-52A7-4C7B1DA5C69C}"/>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47F330B2-E7A9-429B-2F60-52932C0B5C0B}"/>
              </a:ext>
            </a:extLst>
          </p:cNvPr>
          <p:cNvSpPr>
            <a:spLocks noGrp="1"/>
          </p:cNvSpPr>
          <p:nvPr>
            <p:ph idx="1"/>
          </p:nvPr>
        </p:nvSpPr>
        <p:spPr>
          <a:xfrm>
            <a:off x="436894" y="1060397"/>
            <a:ext cx="11145985" cy="4444664"/>
          </a:xfrm>
        </p:spPr>
        <p:txBody>
          <a:bodyPr>
            <a:normAutofit lnSpcReduction="10000"/>
          </a:bodyPr>
          <a:lstStyle/>
          <a:p>
            <a:pPr>
              <a:buFontTx/>
              <a:buChar char="-"/>
            </a:pPr>
            <a:r>
              <a:rPr lang="es-ES" dirty="0" err="1"/>
              <a:t>Callback</a:t>
            </a:r>
            <a:r>
              <a:rPr lang="es-ES" dirty="0"/>
              <a:t> nombrada (más claro para aprender):</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r>
              <a:rPr lang="es-ES" dirty="0"/>
              <a:t>- Mucho más legible que meter la función directamente</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8" name="Imagen 7">
            <a:extLst>
              <a:ext uri="{FF2B5EF4-FFF2-40B4-BE49-F238E27FC236}">
                <a16:creationId xmlns:a16="http://schemas.microsoft.com/office/drawing/2014/main" id="{6B36B681-1F24-12DA-A3F5-8BBE912C0833}"/>
              </a:ext>
            </a:extLst>
          </p:cNvPr>
          <p:cNvPicPr>
            <a:picLocks noChangeAspect="1"/>
          </p:cNvPicPr>
          <p:nvPr/>
        </p:nvPicPr>
        <p:blipFill>
          <a:blip r:embed="rId2"/>
          <a:stretch>
            <a:fillRect/>
          </a:stretch>
        </p:blipFill>
        <p:spPr>
          <a:xfrm>
            <a:off x="1158113" y="1931436"/>
            <a:ext cx="8963899" cy="2477599"/>
          </a:xfrm>
          <a:prstGeom prst="rect">
            <a:avLst/>
          </a:prstGeom>
        </p:spPr>
      </p:pic>
    </p:spTree>
    <p:extLst>
      <p:ext uri="{BB962C8B-B14F-4D97-AF65-F5344CB8AC3E}">
        <p14:creationId xmlns:p14="http://schemas.microsoft.com/office/powerpoint/2010/main" val="2541348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51833-7FC0-8864-5B2A-72E96EA74D2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2F5508-E5BD-37AF-C23E-264568117878}"/>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D4BC3178-6DC5-E537-631E-53EA6B8C165D}"/>
              </a:ext>
            </a:extLst>
          </p:cNvPr>
          <p:cNvSpPr>
            <a:spLocks noGrp="1"/>
          </p:cNvSpPr>
          <p:nvPr>
            <p:ph idx="1"/>
          </p:nvPr>
        </p:nvSpPr>
        <p:spPr>
          <a:xfrm>
            <a:off x="436894" y="1060397"/>
            <a:ext cx="11145985" cy="4444664"/>
          </a:xfrm>
        </p:spPr>
        <p:txBody>
          <a:bodyPr>
            <a:normAutofit/>
          </a:bodyPr>
          <a:lstStyle/>
          <a:p>
            <a:pPr>
              <a:buFontTx/>
              <a:buChar char="-"/>
            </a:pPr>
            <a:r>
              <a:rPr lang="es-ES" dirty="0"/>
              <a:t>Diferencia entre pasar la función (</a:t>
            </a:r>
            <a:r>
              <a:rPr lang="es-ES" dirty="0" err="1"/>
              <a:t>callback</a:t>
            </a:r>
            <a:r>
              <a:rPr lang="es-ES" dirty="0"/>
              <a:t>) y ejecutarla directamente</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1811BF1C-2B97-A5AE-F139-81AE3034E943}"/>
              </a:ext>
            </a:extLst>
          </p:cNvPr>
          <p:cNvPicPr>
            <a:picLocks noChangeAspect="1"/>
          </p:cNvPicPr>
          <p:nvPr/>
        </p:nvPicPr>
        <p:blipFill>
          <a:blip r:embed="rId2"/>
          <a:stretch>
            <a:fillRect/>
          </a:stretch>
        </p:blipFill>
        <p:spPr>
          <a:xfrm>
            <a:off x="2297841" y="1923841"/>
            <a:ext cx="6482342" cy="3010318"/>
          </a:xfrm>
          <a:prstGeom prst="rect">
            <a:avLst/>
          </a:prstGeom>
        </p:spPr>
      </p:pic>
    </p:spTree>
    <p:extLst>
      <p:ext uri="{BB962C8B-B14F-4D97-AF65-F5344CB8AC3E}">
        <p14:creationId xmlns:p14="http://schemas.microsoft.com/office/powerpoint/2010/main" val="1025998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D7A0-3874-5103-67EE-025BDE3DD9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1F493B-2DF7-E735-32A8-978CD2859D3C}"/>
              </a:ext>
            </a:extLst>
          </p:cNvPr>
          <p:cNvSpPr>
            <a:spLocks noGrp="1"/>
          </p:cNvSpPr>
          <p:nvPr>
            <p:ph type="title"/>
          </p:nvPr>
        </p:nvSpPr>
        <p:spPr/>
        <p:txBody>
          <a:bodyPr>
            <a:normAutofit fontScale="90000"/>
          </a:bodyPr>
          <a:lstStyle/>
          <a:p>
            <a:r>
              <a:rPr lang="es-ES" dirty="0"/>
              <a:t>2.6 – Funciones normales, funciones flecha y </a:t>
            </a:r>
            <a:r>
              <a:rPr lang="es-ES" dirty="0" err="1"/>
              <a:t>callbacks</a:t>
            </a:r>
            <a:endParaRPr lang="es-ES" dirty="0"/>
          </a:p>
        </p:txBody>
      </p:sp>
      <p:sp>
        <p:nvSpPr>
          <p:cNvPr id="3" name="Marcador de contenido 2">
            <a:extLst>
              <a:ext uri="{FF2B5EF4-FFF2-40B4-BE49-F238E27FC236}">
                <a16:creationId xmlns:a16="http://schemas.microsoft.com/office/drawing/2014/main" id="{5BB37B08-19B6-EA71-283A-AD2785E4D8F5}"/>
              </a:ext>
            </a:extLst>
          </p:cNvPr>
          <p:cNvSpPr>
            <a:spLocks noGrp="1"/>
          </p:cNvSpPr>
          <p:nvPr>
            <p:ph idx="1"/>
          </p:nvPr>
        </p:nvSpPr>
        <p:spPr>
          <a:xfrm>
            <a:off x="436894" y="1060397"/>
            <a:ext cx="11145985" cy="4444664"/>
          </a:xfrm>
        </p:spPr>
        <p:txBody>
          <a:bodyPr>
            <a:normAutofit/>
          </a:bodyPr>
          <a:lstStyle/>
          <a:p>
            <a:pPr>
              <a:buFontTx/>
              <a:buChar char="-"/>
            </a:pPr>
            <a:r>
              <a:rPr lang="es-ES" dirty="0"/>
              <a:t>EN RESUMEN</a:t>
            </a:r>
          </a:p>
          <a:p>
            <a:pPr>
              <a:buFontTx/>
              <a:buChar char="-"/>
            </a:pPr>
            <a:r>
              <a:rPr lang="es-ES" dirty="0"/>
              <a:t>Un </a:t>
            </a:r>
            <a:r>
              <a:rPr lang="es-ES" dirty="0" err="1"/>
              <a:t>callback</a:t>
            </a:r>
            <a:r>
              <a:rPr lang="es-ES" dirty="0"/>
              <a:t> es simplemente una función que pasamos como argumento a otra función, para que se ejecute después, cuando corresponda:</a:t>
            </a:r>
          </a:p>
          <a:p>
            <a:pPr>
              <a:buFontTx/>
              <a:buChar char="-"/>
            </a:pPr>
            <a:r>
              <a:rPr lang="es-ES" dirty="0"/>
              <a:t>En eventos (cuando el usuario hace algo, </a:t>
            </a:r>
            <a:r>
              <a:rPr lang="es-ES" dirty="0" err="1"/>
              <a:t>clickar</a:t>
            </a:r>
            <a:r>
              <a:rPr lang="es-ES" dirty="0"/>
              <a:t> un botón del DOM, por ejemplo)</a:t>
            </a:r>
          </a:p>
          <a:p>
            <a:pPr>
              <a:buFontTx/>
              <a:buChar char="-"/>
            </a:pPr>
            <a:r>
              <a:rPr lang="es-ES" dirty="0"/>
              <a:t>En temporizadores (cuando pasa un tiempo determinado)</a:t>
            </a:r>
          </a:p>
          <a:p>
            <a:pPr>
              <a:buFontTx/>
              <a:buChar char="-"/>
            </a:pPr>
            <a:r>
              <a:rPr lang="es-ES" dirty="0"/>
              <a:t>En </a:t>
            </a:r>
            <a:r>
              <a:rPr lang="es-ES" dirty="0" err="1"/>
              <a:t>arrays</a:t>
            </a:r>
            <a:r>
              <a:rPr lang="es-ES" dirty="0"/>
              <a:t> (cuando recorremos elementos y queremos que sobre cada uno se ejecute una acción determinada)</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882416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79C6-4728-A4A9-BF14-72BC7CFCF7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167107-BFAB-381A-9EB6-0BEAEE6D4B82}"/>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6563AE82-1743-A00B-8411-743CED79ED46}"/>
              </a:ext>
            </a:extLst>
          </p:cNvPr>
          <p:cNvSpPr>
            <a:spLocks noGrp="1"/>
          </p:cNvSpPr>
          <p:nvPr>
            <p:ph idx="1"/>
          </p:nvPr>
        </p:nvSpPr>
        <p:spPr>
          <a:xfrm>
            <a:off x="530200" y="1769523"/>
            <a:ext cx="11145985" cy="4444664"/>
          </a:xfrm>
        </p:spPr>
        <p:txBody>
          <a:bodyPr>
            <a:normAutofit/>
          </a:bodyPr>
          <a:lstStyle/>
          <a:p>
            <a:pPr>
              <a:buFontTx/>
              <a:buChar char="-"/>
            </a:pPr>
            <a:r>
              <a:rPr lang="es-ES" dirty="0"/>
              <a:t>Se trata de un paradigma de programación (una forma de programar) donde se intenta que el código se centre más en qué debe hacer una función que en cómo debe hacerlo. El ejemplo más claro es que intenta evitar los bucles </a:t>
            </a:r>
            <a:r>
              <a:rPr lang="es-ES" dirty="0" err="1"/>
              <a:t>for</a:t>
            </a:r>
            <a:r>
              <a:rPr lang="es-ES" dirty="0"/>
              <a:t> y </a:t>
            </a:r>
            <a:r>
              <a:rPr lang="es-ES" dirty="0" err="1"/>
              <a:t>while</a:t>
            </a:r>
            <a:r>
              <a:rPr lang="es-ES" dirty="0"/>
              <a:t> sobre </a:t>
            </a:r>
            <a:r>
              <a:rPr lang="es-ES" dirty="0" err="1"/>
              <a:t>arrays</a:t>
            </a:r>
            <a:r>
              <a:rPr lang="es-ES" dirty="0"/>
              <a:t> o listas de elementos, dado que normalmente se usan para recorrer la lista completa y hacer algo con cada uno de dichos elementos. Lo que hace la programación funcional es que a la función que debe hacer eso se le pasa como parámetro la función que debe aplicarse a cada elemento de la lista.</a:t>
            </a:r>
          </a:p>
          <a:p>
            <a:pPr>
              <a:buFontTx/>
              <a:buChar char="-"/>
            </a:pPr>
            <a:r>
              <a:rPr lang="es-ES" dirty="0"/>
              <a:t>Desde la versión 5.1 JavaScript incorpora métodos de programación funcional en el lenguaje, especialmente para trabajar con </a:t>
            </a:r>
            <a:r>
              <a:rPr lang="es-ES" dirty="0" err="1"/>
              <a:t>arrays</a:t>
            </a:r>
            <a:r>
              <a:rPr lang="es-ES" dirty="0"/>
              <a:t>, los cuales veremos a continuación:</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751652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El método </a:t>
            </a:r>
            <a:r>
              <a:rPr lang="es-ES" b="1" dirty="0"/>
              <a:t>.</a:t>
            </a:r>
            <a:r>
              <a:rPr lang="es-ES" b="1" dirty="0" err="1"/>
              <a:t>filter</a:t>
            </a:r>
            <a:r>
              <a:rPr lang="es-ES" b="1" dirty="0"/>
              <a:t>() </a:t>
            </a:r>
            <a:r>
              <a:rPr lang="es-ES" dirty="0"/>
              <a:t>devuelve un nuevo array con los elementos que cumplen determinada condición del array al que se aplica. Esta función recibe como primer parámetro el elemento actual del array (sobre el que debe actuar). Opcionalmente puede tener como segundo parámetro su índice y como tercer parámetro el array completo. La función debe devolver true para los elementos que se incluirán en el array a devolver como resultado y false para el resto.</a:t>
            </a:r>
          </a:p>
          <a:p>
            <a:pPr>
              <a:buFontTx/>
              <a:buChar char="-"/>
            </a:pPr>
            <a:r>
              <a:rPr lang="es-ES" dirty="0"/>
              <a:t>Imaginemos que tenemos un array con notas y queremos extraer solamente los aprobados. Una solución clásica sería la siguiente:</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74AFDC10-F10F-7109-13BC-9002B7C467F3}"/>
              </a:ext>
            </a:extLst>
          </p:cNvPr>
          <p:cNvPicPr>
            <a:picLocks noChangeAspect="1"/>
          </p:cNvPicPr>
          <p:nvPr/>
        </p:nvPicPr>
        <p:blipFill>
          <a:blip r:embed="rId2"/>
          <a:stretch>
            <a:fillRect/>
          </a:stretch>
        </p:blipFill>
        <p:spPr>
          <a:xfrm>
            <a:off x="2747744" y="3314014"/>
            <a:ext cx="6416596" cy="2514818"/>
          </a:xfrm>
          <a:prstGeom prst="rect">
            <a:avLst/>
          </a:prstGeom>
        </p:spPr>
      </p:pic>
    </p:spTree>
    <p:extLst>
      <p:ext uri="{BB962C8B-B14F-4D97-AF65-F5344CB8AC3E}">
        <p14:creationId xmlns:p14="http://schemas.microsoft.com/office/powerpoint/2010/main" val="25398955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Usando la programación funcional, obtendríamos el siguiente resultado al problema anterior.</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F4AD9FEE-109A-765C-940C-D5731704B3DF}"/>
              </a:ext>
            </a:extLst>
          </p:cNvPr>
          <p:cNvPicPr>
            <a:picLocks noChangeAspect="1"/>
          </p:cNvPicPr>
          <p:nvPr/>
        </p:nvPicPr>
        <p:blipFill>
          <a:blip r:embed="rId2"/>
          <a:stretch>
            <a:fillRect/>
          </a:stretch>
        </p:blipFill>
        <p:spPr>
          <a:xfrm>
            <a:off x="2285260" y="2069735"/>
            <a:ext cx="7131450" cy="2940804"/>
          </a:xfrm>
          <a:prstGeom prst="rect">
            <a:avLst/>
          </a:prstGeom>
        </p:spPr>
      </p:pic>
    </p:spTree>
    <p:extLst>
      <p:ext uri="{BB962C8B-B14F-4D97-AF65-F5344CB8AC3E}">
        <p14:creationId xmlns:p14="http://schemas.microsoft.com/office/powerpoint/2010/main" val="104025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Podemos refactorizar esta función para que sea más compacta</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 Y si usamos funcionas lambda (flecha) queda mucho más simple</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F73543C6-0934-C40B-75D5-56253C1D0098}"/>
              </a:ext>
            </a:extLst>
          </p:cNvPr>
          <p:cNvPicPr>
            <a:picLocks noChangeAspect="1"/>
          </p:cNvPicPr>
          <p:nvPr/>
        </p:nvPicPr>
        <p:blipFill>
          <a:blip r:embed="rId2"/>
          <a:stretch>
            <a:fillRect/>
          </a:stretch>
        </p:blipFill>
        <p:spPr>
          <a:xfrm>
            <a:off x="1597304" y="1660871"/>
            <a:ext cx="8126238" cy="1638289"/>
          </a:xfrm>
          <a:prstGeom prst="rect">
            <a:avLst/>
          </a:prstGeom>
        </p:spPr>
      </p:pic>
      <p:pic>
        <p:nvPicPr>
          <p:cNvPr id="8" name="Imagen 7">
            <a:extLst>
              <a:ext uri="{FF2B5EF4-FFF2-40B4-BE49-F238E27FC236}">
                <a16:creationId xmlns:a16="http://schemas.microsoft.com/office/drawing/2014/main" id="{8CF7B00A-C651-AA95-3327-219EAB115741}"/>
              </a:ext>
            </a:extLst>
          </p:cNvPr>
          <p:cNvPicPr>
            <a:picLocks noChangeAspect="1"/>
          </p:cNvPicPr>
          <p:nvPr/>
        </p:nvPicPr>
        <p:blipFill>
          <a:blip r:embed="rId3"/>
          <a:stretch>
            <a:fillRect/>
          </a:stretch>
        </p:blipFill>
        <p:spPr>
          <a:xfrm>
            <a:off x="1802578" y="4140818"/>
            <a:ext cx="8133758" cy="875151"/>
          </a:xfrm>
          <a:prstGeom prst="rect">
            <a:avLst/>
          </a:prstGeom>
        </p:spPr>
      </p:pic>
    </p:spTree>
    <p:extLst>
      <p:ext uri="{BB962C8B-B14F-4D97-AF65-F5344CB8AC3E}">
        <p14:creationId xmlns:p14="http://schemas.microsoft.com/office/powerpoint/2010/main" val="4052165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El método </a:t>
            </a:r>
            <a:r>
              <a:rPr lang="es-ES" b="1" dirty="0"/>
              <a:t>.</a:t>
            </a:r>
            <a:r>
              <a:rPr lang="es-ES" b="1" dirty="0" err="1"/>
              <a:t>find</a:t>
            </a:r>
            <a:r>
              <a:rPr lang="es-ES" b="1" dirty="0"/>
              <a:t>() </a:t>
            </a:r>
            <a:r>
              <a:rPr lang="es-ES" dirty="0"/>
              <a:t>es similar a </a:t>
            </a:r>
            <a:r>
              <a:rPr lang="es-ES" dirty="0" err="1"/>
              <a:t>filter</a:t>
            </a:r>
            <a:r>
              <a:rPr lang="es-ES" dirty="0"/>
              <a:t> pero no devuelve un array, sino el primer elemento que cumple con la condición (o </a:t>
            </a:r>
            <a:r>
              <a:rPr lang="es-ES" dirty="0" err="1"/>
              <a:t>undefined</a:t>
            </a:r>
            <a:r>
              <a:rPr lang="es-ES" dirty="0"/>
              <a:t> si no la cumple nadie)</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Este método se suele usar si tenemos un array de objetos y queremos localizar el objeto que tiene un determinado atributo. Por ejemplo, en el código siguiente, queremos localizar el Pokémon con velocidad mayor a 100</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599E169C-0983-2B85-C461-F43E63668C55}"/>
              </a:ext>
            </a:extLst>
          </p:cNvPr>
          <p:cNvPicPr>
            <a:picLocks noChangeAspect="1"/>
          </p:cNvPicPr>
          <p:nvPr/>
        </p:nvPicPr>
        <p:blipFill>
          <a:blip r:embed="rId2"/>
          <a:stretch>
            <a:fillRect/>
          </a:stretch>
        </p:blipFill>
        <p:spPr>
          <a:xfrm>
            <a:off x="1186137" y="2076391"/>
            <a:ext cx="9689095" cy="1352609"/>
          </a:xfrm>
          <a:prstGeom prst="rect">
            <a:avLst/>
          </a:prstGeom>
        </p:spPr>
      </p:pic>
    </p:spTree>
    <p:extLst>
      <p:ext uri="{BB962C8B-B14F-4D97-AF65-F5344CB8AC3E}">
        <p14:creationId xmlns:p14="http://schemas.microsoft.com/office/powerpoint/2010/main" val="23148659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CB3ED65F-E382-0AB5-C5F3-B4D7963D87EA}"/>
              </a:ext>
            </a:extLst>
          </p:cNvPr>
          <p:cNvPicPr>
            <a:picLocks noChangeAspect="1"/>
          </p:cNvPicPr>
          <p:nvPr/>
        </p:nvPicPr>
        <p:blipFill>
          <a:blip r:embed="rId2"/>
          <a:stretch>
            <a:fillRect/>
          </a:stretch>
        </p:blipFill>
        <p:spPr>
          <a:xfrm>
            <a:off x="2273794" y="738231"/>
            <a:ext cx="7140559" cy="5151566"/>
          </a:xfrm>
          <a:prstGeom prst="rect">
            <a:avLst/>
          </a:prstGeom>
        </p:spPr>
      </p:pic>
    </p:spTree>
    <p:extLst>
      <p:ext uri="{BB962C8B-B14F-4D97-AF65-F5344CB8AC3E}">
        <p14:creationId xmlns:p14="http://schemas.microsoft.com/office/powerpoint/2010/main" val="2565345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El método </a:t>
            </a:r>
            <a:r>
              <a:rPr lang="es-ES" b="1" dirty="0"/>
              <a:t>.</a:t>
            </a:r>
            <a:r>
              <a:rPr lang="es-ES" b="1" dirty="0" err="1"/>
              <a:t>findIndex</a:t>
            </a:r>
            <a:r>
              <a:rPr lang="es-ES" b="1" dirty="0"/>
              <a:t>() </a:t>
            </a:r>
            <a:r>
              <a:rPr lang="es-ES" dirty="0"/>
              <a:t>devuelve la posición del primer elemento que coincida con la búsqueda, y -1 si no encuentra ninguno.</a:t>
            </a:r>
          </a:p>
          <a:p>
            <a:pPr>
              <a:buFontTx/>
              <a:buChar char="-"/>
            </a:pPr>
            <a:r>
              <a:rPr lang="es-ES" dirty="0"/>
              <a:t>Los métodos </a:t>
            </a:r>
            <a:r>
              <a:rPr lang="es-ES" b="1" dirty="0"/>
              <a:t>.</a:t>
            </a:r>
            <a:r>
              <a:rPr lang="es-ES" b="1" dirty="0" err="1"/>
              <a:t>every</a:t>
            </a:r>
            <a:r>
              <a:rPr lang="es-ES" b="1" dirty="0"/>
              <a:t>() </a:t>
            </a:r>
            <a:r>
              <a:rPr lang="es-ES" dirty="0"/>
              <a:t>y </a:t>
            </a:r>
            <a:r>
              <a:rPr lang="es-ES" b="1" dirty="0"/>
              <a:t>.</a:t>
            </a:r>
            <a:r>
              <a:rPr lang="es-ES" b="1" dirty="0" err="1"/>
              <a:t>some</a:t>
            </a:r>
            <a:r>
              <a:rPr lang="es-ES" b="1" dirty="0"/>
              <a:t>() </a:t>
            </a:r>
            <a:r>
              <a:rPr lang="es-ES" dirty="0"/>
              <a:t>. El primero devuelve true si todos los elementos del array a examinar coinciden con el criterio de búsqueda, y false en caso contrario. El segundo devuelve true si algún elemento del array coincide con dicho criterio.</a:t>
            </a:r>
          </a:p>
          <a:p>
            <a:pPr>
              <a:buFontTx/>
              <a:buChar char="-"/>
            </a:pPr>
            <a:endParaRPr lang="es-ES" b="1" dirty="0"/>
          </a:p>
          <a:p>
            <a:pPr>
              <a:buFontTx/>
              <a:buChar char="-"/>
            </a:pPr>
            <a:endParaRPr lang="es-ES" b="1" dirty="0"/>
          </a:p>
          <a:p>
            <a:pPr>
              <a:buFontTx/>
              <a:buChar char="-"/>
            </a:pPr>
            <a:r>
              <a:rPr lang="es-ES" dirty="0"/>
              <a:t>El método </a:t>
            </a:r>
            <a:r>
              <a:rPr lang="es-ES" b="1" dirty="0"/>
              <a:t>.</a:t>
            </a:r>
            <a:r>
              <a:rPr lang="es-ES" b="1" dirty="0" err="1"/>
              <a:t>map</a:t>
            </a:r>
            <a:r>
              <a:rPr lang="es-ES" b="1" dirty="0"/>
              <a:t>() </a:t>
            </a:r>
            <a:r>
              <a:rPr lang="es-ES" dirty="0"/>
              <a:t>permite modificar cada elemento de un array y devuelve un nuevo array con los elementos del original modificados. </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0ADFFC9A-F5C5-F779-DA5E-108613752502}"/>
              </a:ext>
            </a:extLst>
          </p:cNvPr>
          <p:cNvPicPr>
            <a:picLocks noChangeAspect="1"/>
          </p:cNvPicPr>
          <p:nvPr/>
        </p:nvPicPr>
        <p:blipFill>
          <a:blip r:embed="rId2"/>
          <a:stretch>
            <a:fillRect/>
          </a:stretch>
        </p:blipFill>
        <p:spPr>
          <a:xfrm>
            <a:off x="1330683" y="2784212"/>
            <a:ext cx="8620847" cy="1059603"/>
          </a:xfrm>
          <a:prstGeom prst="rect">
            <a:avLst/>
          </a:prstGeom>
        </p:spPr>
      </p:pic>
      <p:pic>
        <p:nvPicPr>
          <p:cNvPr id="8" name="Imagen 7">
            <a:extLst>
              <a:ext uri="{FF2B5EF4-FFF2-40B4-BE49-F238E27FC236}">
                <a16:creationId xmlns:a16="http://schemas.microsoft.com/office/drawing/2014/main" id="{350CA9AA-9A38-D6C3-FA52-4E779B70F2BE}"/>
              </a:ext>
            </a:extLst>
          </p:cNvPr>
          <p:cNvPicPr>
            <a:picLocks noChangeAspect="1"/>
          </p:cNvPicPr>
          <p:nvPr/>
        </p:nvPicPr>
        <p:blipFill>
          <a:blip r:embed="rId3"/>
          <a:stretch>
            <a:fillRect/>
          </a:stretch>
        </p:blipFill>
        <p:spPr>
          <a:xfrm>
            <a:off x="1332941" y="4538765"/>
            <a:ext cx="9526117" cy="1143578"/>
          </a:xfrm>
          <a:prstGeom prst="rect">
            <a:avLst/>
          </a:prstGeom>
        </p:spPr>
      </p:pic>
    </p:spTree>
    <p:extLst>
      <p:ext uri="{BB962C8B-B14F-4D97-AF65-F5344CB8AC3E}">
        <p14:creationId xmlns:p14="http://schemas.microsoft.com/office/powerpoint/2010/main" val="38288632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El método </a:t>
            </a:r>
            <a:r>
              <a:rPr lang="es-ES" b="1" dirty="0"/>
              <a:t>.reduce() </a:t>
            </a:r>
            <a:r>
              <a:rPr lang="es-ES" dirty="0"/>
              <a:t>devuelve un valor calculado a partir de los elementos del array. En este caso la función recibe como primer parámetro el valor calculado hasta ahora y el método tiene como primer parámetro la función y como segundo parámetro el valor calculado inicial (si no se indica será el primer elemento del array)</a:t>
            </a: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7171FA4F-053A-7785-2B44-EF314777201E}"/>
              </a:ext>
            </a:extLst>
          </p:cNvPr>
          <p:cNvPicPr>
            <a:picLocks noChangeAspect="1"/>
          </p:cNvPicPr>
          <p:nvPr/>
        </p:nvPicPr>
        <p:blipFill>
          <a:blip r:embed="rId2"/>
          <a:stretch>
            <a:fillRect/>
          </a:stretch>
        </p:blipFill>
        <p:spPr>
          <a:xfrm>
            <a:off x="457693" y="2825427"/>
            <a:ext cx="11104399" cy="1688840"/>
          </a:xfrm>
          <a:prstGeom prst="rect">
            <a:avLst/>
          </a:prstGeom>
        </p:spPr>
      </p:pic>
    </p:spTree>
    <p:extLst>
      <p:ext uri="{BB962C8B-B14F-4D97-AF65-F5344CB8AC3E}">
        <p14:creationId xmlns:p14="http://schemas.microsoft.com/office/powerpoint/2010/main" val="2937294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Otro ejemplo más del método .reduce():</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D8DB552C-E435-AA04-A8E7-25DF8A695CF5}"/>
              </a:ext>
            </a:extLst>
          </p:cNvPr>
          <p:cNvPicPr>
            <a:picLocks noChangeAspect="1"/>
          </p:cNvPicPr>
          <p:nvPr/>
        </p:nvPicPr>
        <p:blipFill>
          <a:blip r:embed="rId2"/>
          <a:stretch>
            <a:fillRect/>
          </a:stretch>
        </p:blipFill>
        <p:spPr>
          <a:xfrm>
            <a:off x="900318" y="1613940"/>
            <a:ext cx="10405747" cy="3200911"/>
          </a:xfrm>
          <a:prstGeom prst="rect">
            <a:avLst/>
          </a:prstGeom>
        </p:spPr>
      </p:pic>
    </p:spTree>
    <p:extLst>
      <p:ext uri="{BB962C8B-B14F-4D97-AF65-F5344CB8AC3E}">
        <p14:creationId xmlns:p14="http://schemas.microsoft.com/office/powerpoint/2010/main" val="27908254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dirty="0"/>
              <a:t>El método </a:t>
            </a:r>
            <a:r>
              <a:rPr lang="es-ES" b="1" dirty="0"/>
              <a:t>.</a:t>
            </a:r>
            <a:r>
              <a:rPr lang="es-ES" b="1" dirty="0" err="1"/>
              <a:t>forEach</a:t>
            </a:r>
            <a:r>
              <a:rPr lang="es-ES" b="1" dirty="0"/>
              <a:t>(): </a:t>
            </a:r>
            <a:r>
              <a:rPr lang="es-ES" dirty="0"/>
              <a:t>no devuelve nada, si no que permite realizar algo con cada elemento del array.</a:t>
            </a:r>
          </a:p>
          <a:p>
            <a:pPr>
              <a:buFontTx/>
              <a:buChar char="-"/>
            </a:pPr>
            <a:endParaRPr lang="es-ES" dirty="0"/>
          </a:p>
          <a:p>
            <a:pPr>
              <a:buFontTx/>
              <a:buChar char="-"/>
            </a:pPr>
            <a:endParaRPr lang="es-ES" dirty="0"/>
          </a:p>
          <a:p>
            <a:pPr>
              <a:buFontTx/>
              <a:buChar char="-"/>
            </a:pPr>
            <a:endParaRPr lang="es-ES" dirty="0"/>
          </a:p>
          <a:p>
            <a:pPr>
              <a:buFontTx/>
              <a:buChar char="-"/>
            </a:pPr>
            <a:r>
              <a:rPr lang="es-ES" dirty="0"/>
              <a:t>El método </a:t>
            </a:r>
            <a:r>
              <a:rPr lang="es-ES" b="1" dirty="0"/>
              <a:t>.</a:t>
            </a:r>
            <a:r>
              <a:rPr lang="es-ES" b="1" dirty="0" err="1"/>
              <a:t>includes</a:t>
            </a:r>
            <a:r>
              <a:rPr lang="es-ES" b="1" dirty="0"/>
              <a:t>() </a:t>
            </a:r>
            <a:r>
              <a:rPr lang="es-ES" dirty="0"/>
              <a:t>devuelve true si el array incluye el elemento que se le pasa como parámetro.</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CE7838B6-4C04-D619-635E-4A1BB3276600}"/>
              </a:ext>
            </a:extLst>
          </p:cNvPr>
          <p:cNvPicPr>
            <a:picLocks noChangeAspect="1"/>
          </p:cNvPicPr>
          <p:nvPr/>
        </p:nvPicPr>
        <p:blipFill>
          <a:blip r:embed="rId2"/>
          <a:stretch>
            <a:fillRect/>
          </a:stretch>
        </p:blipFill>
        <p:spPr>
          <a:xfrm>
            <a:off x="1554285" y="1648523"/>
            <a:ext cx="8262119" cy="1150661"/>
          </a:xfrm>
          <a:prstGeom prst="rect">
            <a:avLst/>
          </a:prstGeom>
        </p:spPr>
      </p:pic>
      <p:pic>
        <p:nvPicPr>
          <p:cNvPr id="8" name="Imagen 7">
            <a:extLst>
              <a:ext uri="{FF2B5EF4-FFF2-40B4-BE49-F238E27FC236}">
                <a16:creationId xmlns:a16="http://schemas.microsoft.com/office/drawing/2014/main" id="{8286322A-6BEC-4F85-7E94-7D72E0EAEFE3}"/>
              </a:ext>
            </a:extLst>
          </p:cNvPr>
          <p:cNvPicPr>
            <a:picLocks noChangeAspect="1"/>
          </p:cNvPicPr>
          <p:nvPr/>
        </p:nvPicPr>
        <p:blipFill>
          <a:blip r:embed="rId3"/>
          <a:stretch>
            <a:fillRect/>
          </a:stretch>
        </p:blipFill>
        <p:spPr>
          <a:xfrm>
            <a:off x="1804743" y="4058817"/>
            <a:ext cx="7187850" cy="619261"/>
          </a:xfrm>
          <a:prstGeom prst="rect">
            <a:avLst/>
          </a:prstGeom>
        </p:spPr>
      </p:pic>
    </p:spTree>
    <p:extLst>
      <p:ext uri="{BB962C8B-B14F-4D97-AF65-F5344CB8AC3E}">
        <p14:creationId xmlns:p14="http://schemas.microsoft.com/office/powerpoint/2010/main" val="30483448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r>
              <a:rPr lang="es-ES" b="1" dirty="0" err="1"/>
              <a:t>Array.from</a:t>
            </a:r>
            <a:r>
              <a:rPr lang="es-ES" b="1" dirty="0"/>
              <a:t>() </a:t>
            </a:r>
            <a:r>
              <a:rPr lang="es-ES" dirty="0"/>
              <a:t>devuelve un array a partir de otro al que se puede aplicar una función de transformación (es similar al </a:t>
            </a:r>
            <a:r>
              <a:rPr lang="es-ES" dirty="0" err="1"/>
              <a:t>map</a:t>
            </a:r>
            <a:r>
              <a:rPr lang="es-ES" dirty="0"/>
              <a:t>)</a:t>
            </a:r>
          </a:p>
          <a:p>
            <a:pPr>
              <a:buFontTx/>
              <a:buChar char="-"/>
            </a:pPr>
            <a:endParaRPr lang="es-ES" dirty="0"/>
          </a:p>
          <a:p>
            <a:pPr>
              <a:buFontTx/>
              <a:buChar char="-"/>
            </a:pPr>
            <a:endParaRPr lang="es-ES" dirty="0"/>
          </a:p>
          <a:p>
            <a:pPr>
              <a:buFontTx/>
              <a:buChar char="-"/>
            </a:pPr>
            <a:r>
              <a:rPr lang="es-ES" dirty="0"/>
              <a:t>Puede usarse para hacer una copia de un array, al igual que el método </a:t>
            </a:r>
            <a:r>
              <a:rPr lang="es-ES" dirty="0" err="1"/>
              <a:t>slice</a:t>
            </a:r>
            <a:endParaRPr lang="es-ES" dirty="0"/>
          </a:p>
          <a:p>
            <a:pPr>
              <a:buFontTx/>
              <a:buChar char="-"/>
            </a:pPr>
            <a:endParaRPr lang="es-ES" dirty="0"/>
          </a:p>
          <a:p>
            <a:pPr>
              <a:buFontTx/>
              <a:buChar char="-"/>
            </a:pPr>
            <a:endParaRPr lang="es-ES" dirty="0"/>
          </a:p>
          <a:p>
            <a:pPr>
              <a:buFontTx/>
              <a:buChar char="-"/>
            </a:pPr>
            <a:r>
              <a:rPr lang="es-ES" dirty="0"/>
              <a:t>También se puede utilizar para convertir colecciones (como la </a:t>
            </a:r>
            <a:r>
              <a:rPr lang="es-ES" dirty="0" err="1"/>
              <a:t>HTMLColection</a:t>
            </a:r>
            <a:r>
              <a:rPr lang="es-ES" dirty="0"/>
              <a:t> que da como resultado al usar </a:t>
            </a:r>
            <a:r>
              <a:rPr lang="es-ES" dirty="0" err="1"/>
              <a:t>getElementsByClassName</a:t>
            </a:r>
            <a:r>
              <a:rPr lang="es-ES" dirty="0"/>
              <a:t>, por ejemplo) en </a:t>
            </a:r>
            <a:r>
              <a:rPr lang="es-ES" dirty="0" err="1"/>
              <a:t>arrays</a:t>
            </a:r>
            <a:r>
              <a:rPr lang="es-ES" dirty="0"/>
              <a:t> y, por ende, operar con ellos de forma más eficaz usando los métodos vistos.</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7252BC62-6EA8-00DC-B543-D9444A8C8083}"/>
              </a:ext>
            </a:extLst>
          </p:cNvPr>
          <p:cNvPicPr>
            <a:picLocks noChangeAspect="1"/>
          </p:cNvPicPr>
          <p:nvPr/>
        </p:nvPicPr>
        <p:blipFill>
          <a:blip r:embed="rId2"/>
          <a:stretch>
            <a:fillRect/>
          </a:stretch>
        </p:blipFill>
        <p:spPr>
          <a:xfrm>
            <a:off x="1377781" y="1754156"/>
            <a:ext cx="9305807" cy="834106"/>
          </a:xfrm>
          <a:prstGeom prst="rect">
            <a:avLst/>
          </a:prstGeom>
        </p:spPr>
      </p:pic>
      <p:pic>
        <p:nvPicPr>
          <p:cNvPr id="9" name="Imagen 8">
            <a:extLst>
              <a:ext uri="{FF2B5EF4-FFF2-40B4-BE49-F238E27FC236}">
                <a16:creationId xmlns:a16="http://schemas.microsoft.com/office/drawing/2014/main" id="{CE3BE4CF-0616-6C4A-341E-5B382D337DDB}"/>
              </a:ext>
            </a:extLst>
          </p:cNvPr>
          <p:cNvPicPr>
            <a:picLocks noChangeAspect="1"/>
          </p:cNvPicPr>
          <p:nvPr/>
        </p:nvPicPr>
        <p:blipFill>
          <a:blip r:embed="rId3"/>
          <a:stretch>
            <a:fillRect/>
          </a:stretch>
        </p:blipFill>
        <p:spPr>
          <a:xfrm>
            <a:off x="1943037" y="3250736"/>
            <a:ext cx="6249277" cy="912695"/>
          </a:xfrm>
          <a:prstGeom prst="rect">
            <a:avLst/>
          </a:prstGeom>
        </p:spPr>
      </p:pic>
    </p:spTree>
    <p:extLst>
      <p:ext uri="{BB962C8B-B14F-4D97-AF65-F5344CB8AC3E}">
        <p14:creationId xmlns:p14="http://schemas.microsoft.com/office/powerpoint/2010/main" val="2368985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457693" y="1091682"/>
            <a:ext cx="11145985" cy="4444664"/>
          </a:xfrm>
        </p:spPr>
        <p:txBody>
          <a:bodyPr>
            <a:normAutofit/>
          </a:bodyPr>
          <a:lstStyle/>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¿Qué haría el siguiente código?</a:t>
            </a: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62080035-BB37-DC93-3270-2B7C34C5CBF6}"/>
              </a:ext>
            </a:extLst>
          </p:cNvPr>
          <p:cNvPicPr>
            <a:picLocks noChangeAspect="1"/>
          </p:cNvPicPr>
          <p:nvPr/>
        </p:nvPicPr>
        <p:blipFill>
          <a:blip r:embed="rId2"/>
          <a:stretch>
            <a:fillRect/>
          </a:stretch>
        </p:blipFill>
        <p:spPr>
          <a:xfrm>
            <a:off x="650281" y="1321654"/>
            <a:ext cx="10891438" cy="2499242"/>
          </a:xfrm>
          <a:prstGeom prst="rect">
            <a:avLst/>
          </a:prstGeom>
        </p:spPr>
      </p:pic>
    </p:spTree>
    <p:extLst>
      <p:ext uri="{BB962C8B-B14F-4D97-AF65-F5344CB8AC3E}">
        <p14:creationId xmlns:p14="http://schemas.microsoft.com/office/powerpoint/2010/main" val="40074743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1932-D61C-40D4-5B8C-1A2EEBCA03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CB3A01-A841-D0A8-8DEE-F6F48CBBF9E3}"/>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C6C3041B-645E-2FA0-80C7-E2868D90323E}"/>
              </a:ext>
            </a:extLst>
          </p:cNvPr>
          <p:cNvSpPr>
            <a:spLocks noGrp="1"/>
          </p:cNvSpPr>
          <p:nvPr>
            <p:ph idx="1"/>
          </p:nvPr>
        </p:nvSpPr>
        <p:spPr>
          <a:xfrm>
            <a:off x="457693" y="1091682"/>
            <a:ext cx="11145985" cy="4444664"/>
          </a:xfrm>
        </p:spPr>
        <p:txBody>
          <a:bodyPr>
            <a:normAutofit/>
          </a:bodyPr>
          <a:lstStyle/>
          <a:p>
            <a:pPr>
              <a:buFontTx/>
              <a:buChar char="-"/>
            </a:pPr>
            <a:r>
              <a:rPr lang="es-ES" dirty="0"/>
              <a:t>La programación funcional (qué) describe el resultado de forma declarativa. La atención se centra en “qué” se quiere, usando funciones puras e inmutables para transformar datos.</a:t>
            </a:r>
          </a:p>
          <a:p>
            <a:pPr>
              <a:buFontTx/>
              <a:buChar char="-"/>
            </a:pPr>
            <a:r>
              <a:rPr lang="es-ES" dirty="0"/>
              <a:t>A diferencia de la programación imperativa (cómo) que hemos visto hasta ahora, la cual detalla las instrucciones paso a paso para modificar el estado del programa. Se enfoca en el cómo se ejecuta el código y el orden de las operaciones.</a:t>
            </a:r>
          </a:p>
          <a:p>
            <a:pPr>
              <a:buFontTx/>
              <a:buChar char="-"/>
            </a:pPr>
            <a:r>
              <a:rPr lang="es-ES" dirty="0"/>
              <a:t>Las características de la programación funcional son: </a:t>
            </a:r>
            <a:r>
              <a:rPr lang="es-ES" b="1" dirty="0"/>
              <a:t>Funciones puras, inmutabilidad y composición de funciones</a:t>
            </a:r>
            <a:r>
              <a:rPr lang="es-ES" dirty="0"/>
              <a:t>.</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3616952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DF5A2-A951-9D46-B1F2-88BF367638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18D142-D967-DF37-E2AD-8307A326FE46}"/>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AB578A14-775A-085A-F258-3BECBFCEAB67}"/>
              </a:ext>
            </a:extLst>
          </p:cNvPr>
          <p:cNvSpPr>
            <a:spLocks noGrp="1"/>
          </p:cNvSpPr>
          <p:nvPr>
            <p:ph idx="1"/>
          </p:nvPr>
        </p:nvSpPr>
        <p:spPr>
          <a:xfrm>
            <a:off x="457693" y="1091682"/>
            <a:ext cx="11145985" cy="4444664"/>
          </a:xfrm>
        </p:spPr>
        <p:txBody>
          <a:bodyPr>
            <a:normAutofit fontScale="92500" lnSpcReduction="20000"/>
          </a:bodyPr>
          <a:lstStyle/>
          <a:p>
            <a:pPr>
              <a:buFontTx/>
              <a:buChar char="-"/>
            </a:pPr>
            <a:r>
              <a:rPr lang="es-ES" dirty="0"/>
              <a:t>Funciones puras: Dada la misma entrada, siempre devuelven la misma salida. Además, no tienen efectos secundarios (no modifican variables externas, no hacen console.log, no tocan el DOM)</a:t>
            </a:r>
          </a:p>
          <a:p>
            <a:pPr marL="0" indent="0">
              <a:buNone/>
            </a:pPr>
            <a:r>
              <a:rPr lang="es-ES" dirty="0"/>
              <a:t>			</a:t>
            </a:r>
            <a:r>
              <a:rPr lang="es-ES" b="1" dirty="0"/>
              <a:t>Impura: depende de "</a:t>
            </a:r>
            <a:r>
              <a:rPr lang="es-ES" b="1" dirty="0" err="1"/>
              <a:t>Math.random</a:t>
            </a:r>
            <a:r>
              <a:rPr lang="es-ES" b="1" dirty="0"/>
              <a:t>"</a:t>
            </a:r>
          </a:p>
          <a:p>
            <a:pPr marL="0" indent="0">
              <a:buNone/>
            </a:pPr>
            <a:r>
              <a:rPr lang="es-ES" dirty="0"/>
              <a:t>		</a:t>
            </a:r>
            <a:r>
              <a:rPr lang="es-ES" dirty="0" err="1"/>
              <a:t>function</a:t>
            </a:r>
            <a:r>
              <a:rPr lang="es-ES" dirty="0"/>
              <a:t> </a:t>
            </a:r>
            <a:r>
              <a:rPr lang="es-ES" dirty="0" err="1"/>
              <a:t>numeroAleatorio</a:t>
            </a:r>
            <a:r>
              <a:rPr lang="es-ES" dirty="0"/>
              <a:t>() {</a:t>
            </a:r>
          </a:p>
          <a:p>
            <a:pPr marL="0" indent="0">
              <a:buNone/>
            </a:pPr>
            <a:r>
              <a:rPr lang="es-ES" dirty="0"/>
              <a:t>			</a:t>
            </a:r>
            <a:r>
              <a:rPr lang="es-ES" dirty="0" err="1"/>
              <a:t>return</a:t>
            </a:r>
            <a:r>
              <a:rPr lang="es-ES" dirty="0"/>
              <a:t> </a:t>
            </a:r>
            <a:r>
              <a:rPr lang="es-ES" dirty="0" err="1"/>
              <a:t>Math.random</a:t>
            </a:r>
            <a:r>
              <a:rPr lang="es-ES" dirty="0"/>
              <a:t>();</a:t>
            </a:r>
          </a:p>
          <a:p>
            <a:pPr marL="0" indent="0">
              <a:buNone/>
            </a:pPr>
            <a:r>
              <a:rPr lang="es-ES" dirty="0"/>
              <a:t>		}</a:t>
            </a:r>
          </a:p>
          <a:p>
            <a:pPr>
              <a:buFontTx/>
              <a:buChar char="-"/>
            </a:pPr>
            <a:endParaRPr lang="es-ES" dirty="0"/>
          </a:p>
          <a:p>
            <a:pPr marL="0" indent="0">
              <a:buNone/>
            </a:pPr>
            <a:r>
              <a:rPr lang="es-ES" dirty="0"/>
              <a:t>		</a:t>
            </a:r>
            <a:r>
              <a:rPr lang="es-ES" b="1" dirty="0"/>
              <a:t>Pura: siempre devuelve lo mismo para los mismos parámetros</a:t>
            </a:r>
          </a:p>
          <a:p>
            <a:pPr marL="0" indent="0">
              <a:buNone/>
            </a:pPr>
            <a:r>
              <a:rPr lang="es-ES" dirty="0"/>
              <a:t>		</a:t>
            </a:r>
            <a:r>
              <a:rPr lang="es-ES" dirty="0" err="1"/>
              <a:t>function</a:t>
            </a:r>
            <a:r>
              <a:rPr lang="es-ES" dirty="0"/>
              <a:t> suma(a, b) {</a:t>
            </a:r>
          </a:p>
          <a:p>
            <a:pPr marL="0" indent="0">
              <a:buNone/>
            </a:pPr>
            <a:r>
              <a:rPr lang="es-ES" dirty="0"/>
              <a:t>			</a:t>
            </a:r>
            <a:r>
              <a:rPr lang="es-ES" dirty="0" err="1"/>
              <a:t>return</a:t>
            </a:r>
            <a:r>
              <a:rPr lang="es-ES" dirty="0"/>
              <a:t> a + b;</a:t>
            </a:r>
          </a:p>
          <a:p>
            <a:pPr marL="0" indent="0">
              <a:buNone/>
            </a:pPr>
            <a:r>
              <a:rPr lang="es-ES" dirty="0"/>
              <a:t>		}</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37067955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A7CE8-D4F2-F727-A68F-661AE8AE23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20C675-DA30-D741-77BD-1C6708D37E25}"/>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CB1AB1F-D27B-A994-8D8D-6027DE39B6E1}"/>
              </a:ext>
            </a:extLst>
          </p:cNvPr>
          <p:cNvSpPr>
            <a:spLocks noGrp="1"/>
          </p:cNvSpPr>
          <p:nvPr>
            <p:ph idx="1"/>
          </p:nvPr>
        </p:nvSpPr>
        <p:spPr>
          <a:xfrm>
            <a:off x="457693" y="1091682"/>
            <a:ext cx="11145985" cy="4444664"/>
          </a:xfrm>
        </p:spPr>
        <p:txBody>
          <a:bodyPr>
            <a:normAutofit/>
          </a:bodyPr>
          <a:lstStyle/>
          <a:p>
            <a:pPr>
              <a:buFontTx/>
              <a:buChar char="-"/>
            </a:pPr>
            <a:r>
              <a:rPr lang="es-ES" dirty="0"/>
              <a:t>Inmutabilidad: No modificar directamente estructuras de datos (</a:t>
            </a:r>
            <a:r>
              <a:rPr lang="es-ES" dirty="0" err="1"/>
              <a:t>arrays</a:t>
            </a:r>
            <a:r>
              <a:rPr lang="es-ES" dirty="0"/>
              <a:t>, objetos). En vez de cambiar el original, devolvemos una copia nueva con los cambios efectuados.</a:t>
            </a:r>
          </a:p>
          <a:p>
            <a:pPr>
              <a:buFontTx/>
              <a:buChar char="-"/>
            </a:pPr>
            <a:endParaRPr lang="es-ES" dirty="0"/>
          </a:p>
          <a:p>
            <a:pPr marL="0" indent="0">
              <a:buNone/>
            </a:pPr>
            <a:r>
              <a:rPr lang="es-ES" dirty="0"/>
              <a:t>			</a:t>
            </a:r>
            <a:r>
              <a:rPr lang="es-ES" dirty="0" err="1"/>
              <a:t>const</a:t>
            </a:r>
            <a:r>
              <a:rPr lang="es-ES" dirty="0"/>
              <a:t> tareas = ["estudiar", "limpiar"];</a:t>
            </a:r>
          </a:p>
          <a:p>
            <a:pPr marL="0" indent="0">
              <a:buNone/>
            </a:pPr>
            <a:r>
              <a:rPr lang="es-ES" dirty="0"/>
              <a:t>			</a:t>
            </a:r>
            <a:r>
              <a:rPr lang="es-ES" b="1" dirty="0"/>
              <a:t>Mala práctica (mutando el array original)</a:t>
            </a:r>
          </a:p>
          <a:p>
            <a:pPr marL="0" indent="0">
              <a:buNone/>
            </a:pPr>
            <a:r>
              <a:rPr lang="es-ES" dirty="0"/>
              <a:t>			</a:t>
            </a:r>
            <a:r>
              <a:rPr lang="es-ES" dirty="0" err="1"/>
              <a:t>tareas.push</a:t>
            </a:r>
            <a:r>
              <a:rPr lang="es-ES" dirty="0"/>
              <a:t>("comprar");</a:t>
            </a:r>
          </a:p>
          <a:p>
            <a:pPr>
              <a:buFontTx/>
              <a:buChar char="-"/>
            </a:pPr>
            <a:endParaRPr lang="es-ES" dirty="0"/>
          </a:p>
          <a:p>
            <a:pPr marL="0" indent="0">
              <a:buNone/>
            </a:pPr>
            <a:r>
              <a:rPr lang="es-ES" dirty="0"/>
              <a:t>			</a:t>
            </a:r>
            <a:r>
              <a:rPr lang="es-ES" b="1" dirty="0"/>
              <a:t>Buena práctica (creando uno nuevo)</a:t>
            </a:r>
          </a:p>
          <a:p>
            <a:pPr marL="0" indent="0">
              <a:buNone/>
            </a:pPr>
            <a:r>
              <a:rPr lang="es-ES" dirty="0"/>
              <a:t>			</a:t>
            </a:r>
            <a:r>
              <a:rPr lang="es-ES" dirty="0" err="1"/>
              <a:t>const</a:t>
            </a:r>
            <a:r>
              <a:rPr lang="es-ES" dirty="0"/>
              <a:t> </a:t>
            </a:r>
            <a:r>
              <a:rPr lang="es-ES" dirty="0" err="1"/>
              <a:t>nuevasTareas</a:t>
            </a:r>
            <a:r>
              <a:rPr lang="es-ES" dirty="0"/>
              <a:t> = [...tareas, "comprar"];</a:t>
            </a: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4136498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45C07-20C3-9975-A58C-198A7D0E29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D6D193-4BF8-F314-BBC0-7A0BF1D24C23}"/>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1BD0BF2E-A265-0D04-7023-AF237E9E0AA9}"/>
              </a:ext>
            </a:extLst>
          </p:cNvPr>
          <p:cNvSpPr>
            <a:spLocks noGrp="1"/>
          </p:cNvSpPr>
          <p:nvPr>
            <p:ph idx="1"/>
          </p:nvPr>
        </p:nvSpPr>
        <p:spPr>
          <a:xfrm>
            <a:off x="457693" y="1091682"/>
            <a:ext cx="11145985" cy="4444664"/>
          </a:xfrm>
        </p:spPr>
        <p:txBody>
          <a:bodyPr>
            <a:normAutofit/>
          </a:bodyPr>
          <a:lstStyle/>
          <a:p>
            <a:pPr>
              <a:buFontTx/>
              <a:buChar char="-"/>
            </a:pPr>
            <a:r>
              <a:rPr lang="es-ES" dirty="0"/>
              <a:t>Composición de funciones: Encadenar funciones pequeñas para formar lógicas más complejas. El ejemplo clásico es </a:t>
            </a:r>
            <a:r>
              <a:rPr lang="es-ES" dirty="0" err="1"/>
              <a:t>map</a:t>
            </a:r>
            <a:r>
              <a:rPr lang="es-ES" dirty="0"/>
              <a:t> + </a:t>
            </a:r>
            <a:r>
              <a:rPr lang="es-ES" dirty="0" err="1"/>
              <a:t>filter</a:t>
            </a:r>
            <a:r>
              <a:rPr lang="es-ES" dirty="0"/>
              <a:t> + reduce</a:t>
            </a:r>
          </a:p>
          <a:p>
            <a:pPr>
              <a:buFontTx/>
              <a:buChar char="-"/>
            </a:pPr>
            <a:endParaRPr lang="es-ES" dirty="0"/>
          </a:p>
          <a:p>
            <a:pPr marL="0" indent="0">
              <a:buNone/>
            </a:pPr>
            <a:r>
              <a:rPr lang="es-ES" dirty="0"/>
              <a:t>			</a:t>
            </a:r>
            <a:r>
              <a:rPr lang="pt-BR" dirty="0" err="1"/>
              <a:t>const</a:t>
            </a:r>
            <a:r>
              <a:rPr lang="pt-BR" dirty="0"/>
              <a:t> </a:t>
            </a:r>
            <a:r>
              <a:rPr lang="pt-BR" dirty="0" err="1"/>
              <a:t>numeros</a:t>
            </a:r>
            <a:r>
              <a:rPr lang="pt-BR" dirty="0"/>
              <a:t> = [1, 2, 3, 4, 5];</a:t>
            </a:r>
          </a:p>
          <a:p>
            <a:pPr marL="0" indent="0">
              <a:buNone/>
            </a:pPr>
            <a:endParaRPr lang="pt-BR" dirty="0"/>
          </a:p>
          <a:p>
            <a:pPr marL="0" indent="0">
              <a:buNone/>
            </a:pPr>
            <a:r>
              <a:rPr lang="pt-BR" dirty="0"/>
              <a:t>			</a:t>
            </a:r>
            <a:r>
              <a:rPr lang="pt-BR" b="1" dirty="0"/>
              <a:t>Filtrar pares y </a:t>
            </a:r>
            <a:r>
              <a:rPr lang="pt-BR" b="1" dirty="0" err="1"/>
              <a:t>luego</a:t>
            </a:r>
            <a:r>
              <a:rPr lang="pt-BR" b="1" dirty="0"/>
              <a:t> </a:t>
            </a:r>
            <a:r>
              <a:rPr lang="pt-BR" b="1" dirty="0" err="1"/>
              <a:t>duplicarlos</a:t>
            </a:r>
            <a:endParaRPr lang="pt-BR" b="1" dirty="0"/>
          </a:p>
          <a:p>
            <a:pPr marL="0" indent="0">
              <a:buNone/>
            </a:pPr>
            <a:r>
              <a:rPr lang="pt-BR" dirty="0"/>
              <a:t>			</a:t>
            </a:r>
            <a:r>
              <a:rPr lang="pt-BR" dirty="0" err="1"/>
              <a:t>const</a:t>
            </a:r>
            <a:r>
              <a:rPr lang="pt-BR" dirty="0"/>
              <a:t> </a:t>
            </a:r>
            <a:r>
              <a:rPr lang="pt-BR" dirty="0" err="1"/>
              <a:t>procesados</a:t>
            </a:r>
            <a:r>
              <a:rPr lang="pt-BR" dirty="0"/>
              <a:t> = </a:t>
            </a:r>
            <a:r>
              <a:rPr lang="pt-BR" dirty="0" err="1"/>
              <a:t>numeros</a:t>
            </a:r>
            <a:endParaRPr lang="pt-BR" dirty="0"/>
          </a:p>
          <a:p>
            <a:pPr marL="0" indent="0">
              <a:buNone/>
            </a:pPr>
            <a:r>
              <a:rPr lang="pt-BR" dirty="0"/>
              <a:t>  			.</a:t>
            </a:r>
            <a:r>
              <a:rPr lang="pt-BR" dirty="0" err="1"/>
              <a:t>filter</a:t>
            </a:r>
            <a:r>
              <a:rPr lang="pt-BR" dirty="0"/>
              <a:t>(n =&gt; n % 2 === 0)   //[2, 4]</a:t>
            </a:r>
          </a:p>
          <a:p>
            <a:pPr marL="0" indent="0">
              <a:buNone/>
            </a:pPr>
            <a:r>
              <a:rPr lang="pt-BR" dirty="0"/>
              <a:t>  			.</a:t>
            </a:r>
            <a:r>
              <a:rPr lang="pt-BR" dirty="0" err="1"/>
              <a:t>map</a:t>
            </a:r>
            <a:r>
              <a:rPr lang="pt-BR" dirty="0"/>
              <a:t>(n =&gt; n * 2);           //[4, 8]</a:t>
            </a: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4171766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909C9-B980-7E3E-E948-A0C5832DB5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F4120E-8FA8-5D3B-33C9-D6A22B5F53FA}"/>
              </a:ext>
            </a:extLst>
          </p:cNvPr>
          <p:cNvSpPr>
            <a:spLocks noGrp="1"/>
          </p:cNvSpPr>
          <p:nvPr>
            <p:ph type="title"/>
          </p:nvPr>
        </p:nvSpPr>
        <p:spPr/>
        <p:txBody>
          <a:bodyPr>
            <a:normAutofit fontScale="90000"/>
          </a:bodyPr>
          <a:lstStyle/>
          <a:p>
            <a:r>
              <a:rPr lang="es-ES" dirty="0"/>
              <a:t>2.6 – Programación funcional</a:t>
            </a:r>
          </a:p>
        </p:txBody>
      </p:sp>
      <p:pic>
        <p:nvPicPr>
          <p:cNvPr id="7" name="Imagen 6">
            <a:extLst>
              <a:ext uri="{FF2B5EF4-FFF2-40B4-BE49-F238E27FC236}">
                <a16:creationId xmlns:a16="http://schemas.microsoft.com/office/drawing/2014/main" id="{64BBB8A5-E3D7-21BB-97FF-EAC392EDDDA4}"/>
              </a:ext>
            </a:extLst>
          </p:cNvPr>
          <p:cNvPicPr>
            <a:picLocks noChangeAspect="1"/>
          </p:cNvPicPr>
          <p:nvPr/>
        </p:nvPicPr>
        <p:blipFill>
          <a:blip r:embed="rId2"/>
          <a:stretch>
            <a:fillRect/>
          </a:stretch>
        </p:blipFill>
        <p:spPr>
          <a:xfrm>
            <a:off x="2346577" y="872899"/>
            <a:ext cx="7498845" cy="5619976"/>
          </a:xfrm>
          <a:prstGeom prst="rect">
            <a:avLst/>
          </a:prstGeom>
        </p:spPr>
      </p:pic>
    </p:spTree>
    <p:extLst>
      <p:ext uri="{BB962C8B-B14F-4D97-AF65-F5344CB8AC3E}">
        <p14:creationId xmlns:p14="http://schemas.microsoft.com/office/powerpoint/2010/main" val="1091379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CF034-5C2F-358A-6247-863A44C536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46A613-A0AE-69EE-FE78-93437A61B043}"/>
              </a:ext>
            </a:extLst>
          </p:cNvPr>
          <p:cNvSpPr>
            <a:spLocks noGrp="1"/>
          </p:cNvSpPr>
          <p:nvPr>
            <p:ph type="title"/>
          </p:nvPr>
        </p:nvSpPr>
        <p:spPr/>
        <p:txBody>
          <a:bodyPr>
            <a:normAutofit fontScale="90000"/>
          </a:bodyPr>
          <a:lstStyle/>
          <a:p>
            <a:r>
              <a:rPr lang="es-ES" dirty="0"/>
              <a:t>2.6 – Programación funcional</a:t>
            </a:r>
          </a:p>
        </p:txBody>
      </p:sp>
      <p:sp>
        <p:nvSpPr>
          <p:cNvPr id="3" name="Marcador de contenido 2">
            <a:extLst>
              <a:ext uri="{FF2B5EF4-FFF2-40B4-BE49-F238E27FC236}">
                <a16:creationId xmlns:a16="http://schemas.microsoft.com/office/drawing/2014/main" id="{73AC69FE-7210-9DA7-6045-BE8360533070}"/>
              </a:ext>
            </a:extLst>
          </p:cNvPr>
          <p:cNvSpPr>
            <a:spLocks noGrp="1"/>
          </p:cNvSpPr>
          <p:nvPr>
            <p:ph idx="1"/>
          </p:nvPr>
        </p:nvSpPr>
        <p:spPr>
          <a:xfrm>
            <a:off x="457693" y="1091682"/>
            <a:ext cx="11145985" cy="4444664"/>
          </a:xfrm>
        </p:spPr>
        <p:txBody>
          <a:bodyPr>
            <a:normAutofit fontScale="85000" lnSpcReduction="20000"/>
          </a:bodyPr>
          <a:lstStyle/>
          <a:p>
            <a:pPr>
              <a:buFontTx/>
              <a:buChar char="-"/>
            </a:pPr>
            <a:r>
              <a:rPr lang="es-ES" dirty="0"/>
              <a:t>En el siguiente ejemplo vemos, por ejemplo, como agregar un nuevo elemento a una lista de forma mutable (mal) y de forma inmutable (bien) respecto del array original</a:t>
            </a:r>
          </a:p>
          <a:p>
            <a:pPr marL="0" indent="0">
              <a:buNone/>
            </a:pPr>
            <a:r>
              <a:rPr lang="es-ES" dirty="0"/>
              <a:t>				</a:t>
            </a:r>
            <a:r>
              <a:rPr lang="es-ES" b="1" dirty="0"/>
              <a:t>MUTABLE (MAL)</a:t>
            </a:r>
          </a:p>
          <a:p>
            <a:pPr marL="0" indent="0">
              <a:buNone/>
            </a:pPr>
            <a:r>
              <a:rPr lang="es-ES" dirty="0"/>
              <a:t>	</a:t>
            </a:r>
            <a:r>
              <a:rPr lang="es-ES" dirty="0" err="1"/>
              <a:t>const</a:t>
            </a:r>
            <a:r>
              <a:rPr lang="es-ES" dirty="0"/>
              <a:t> </a:t>
            </a:r>
            <a:r>
              <a:rPr lang="es-ES" dirty="0" err="1"/>
              <a:t>arr</a:t>
            </a:r>
            <a:r>
              <a:rPr lang="es-ES" dirty="0"/>
              <a:t> = [1, 2, 3];</a:t>
            </a:r>
          </a:p>
          <a:p>
            <a:pPr marL="0" indent="0">
              <a:buNone/>
            </a:pPr>
            <a:r>
              <a:rPr lang="es-ES" dirty="0"/>
              <a:t>	</a:t>
            </a:r>
            <a:r>
              <a:rPr lang="es-ES" dirty="0" err="1"/>
              <a:t>arr.push</a:t>
            </a:r>
            <a:r>
              <a:rPr lang="es-ES" dirty="0"/>
              <a:t>(4);</a:t>
            </a:r>
          </a:p>
          <a:p>
            <a:pPr marL="0" indent="0">
              <a:buNone/>
            </a:pPr>
            <a:r>
              <a:rPr lang="es-ES" dirty="0"/>
              <a:t>	console.log(</a:t>
            </a:r>
            <a:r>
              <a:rPr lang="es-ES" dirty="0" err="1"/>
              <a:t>arr</a:t>
            </a:r>
            <a:r>
              <a:rPr lang="es-ES" dirty="0"/>
              <a:t>); // [1, 2, 3, 4] → se modificó el original</a:t>
            </a:r>
          </a:p>
          <a:p>
            <a:pPr>
              <a:buFontTx/>
              <a:buChar char="-"/>
            </a:pPr>
            <a:endParaRPr lang="es-ES" dirty="0"/>
          </a:p>
          <a:p>
            <a:pPr marL="3657600" lvl="8" indent="0">
              <a:buNone/>
            </a:pPr>
            <a:r>
              <a:rPr lang="es-ES" b="1" dirty="0"/>
              <a:t>INMUTABLE (BIEN)</a:t>
            </a:r>
          </a:p>
          <a:p>
            <a:pPr marL="0" indent="0">
              <a:buNone/>
            </a:pPr>
            <a:r>
              <a:rPr lang="es-ES" dirty="0"/>
              <a:t>	</a:t>
            </a:r>
            <a:r>
              <a:rPr lang="es-ES" dirty="0" err="1"/>
              <a:t>const</a:t>
            </a:r>
            <a:r>
              <a:rPr lang="es-ES" dirty="0"/>
              <a:t> </a:t>
            </a:r>
            <a:r>
              <a:rPr lang="es-ES" dirty="0" err="1"/>
              <a:t>arr</a:t>
            </a:r>
            <a:r>
              <a:rPr lang="es-ES" dirty="0"/>
              <a:t> = [1, 2, 3];</a:t>
            </a:r>
          </a:p>
          <a:p>
            <a:pPr marL="0" indent="0">
              <a:buNone/>
            </a:pPr>
            <a:r>
              <a:rPr lang="es-ES" dirty="0"/>
              <a:t>	</a:t>
            </a:r>
            <a:r>
              <a:rPr lang="es-ES" dirty="0" err="1"/>
              <a:t>const</a:t>
            </a:r>
            <a:r>
              <a:rPr lang="es-ES" dirty="0"/>
              <a:t> nuevo = [...</a:t>
            </a:r>
            <a:r>
              <a:rPr lang="es-ES" dirty="0" err="1"/>
              <a:t>arr</a:t>
            </a:r>
            <a:r>
              <a:rPr lang="es-ES" dirty="0"/>
              <a:t>, 4];</a:t>
            </a:r>
          </a:p>
          <a:p>
            <a:pPr marL="0" indent="0">
              <a:buNone/>
            </a:pPr>
            <a:r>
              <a:rPr lang="es-ES" dirty="0"/>
              <a:t>	console.log(</a:t>
            </a:r>
            <a:r>
              <a:rPr lang="es-ES" dirty="0" err="1"/>
              <a:t>arr</a:t>
            </a:r>
            <a:r>
              <a:rPr lang="es-ES" dirty="0"/>
              <a:t>);   // [1, 2, 3] → no cambió</a:t>
            </a:r>
          </a:p>
          <a:p>
            <a:pPr marL="0" indent="0">
              <a:buNone/>
            </a:pPr>
            <a:r>
              <a:rPr lang="es-ES" dirty="0"/>
              <a:t>	console.log(nuevo); // [1, 2, 3, 4]</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9355574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0D690-0AA4-039D-64E2-81568AF88B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D6E669-DE54-4C30-216E-DEDB565E0A67}"/>
              </a:ext>
            </a:extLst>
          </p:cNvPr>
          <p:cNvSpPr>
            <a:spLocks noGrp="1"/>
          </p:cNvSpPr>
          <p:nvPr>
            <p:ph type="title"/>
          </p:nvPr>
        </p:nvSpPr>
        <p:spPr/>
        <p:txBody>
          <a:bodyPr>
            <a:normAutofit fontScale="90000"/>
          </a:bodyPr>
          <a:lstStyle/>
          <a:p>
            <a:r>
              <a:rPr lang="es-ES" dirty="0"/>
              <a:t>2.6 – Programación funcional (Ejercicios)</a:t>
            </a:r>
          </a:p>
        </p:txBody>
      </p:sp>
      <p:sp>
        <p:nvSpPr>
          <p:cNvPr id="3" name="Marcador de contenido 2">
            <a:extLst>
              <a:ext uri="{FF2B5EF4-FFF2-40B4-BE49-F238E27FC236}">
                <a16:creationId xmlns:a16="http://schemas.microsoft.com/office/drawing/2014/main" id="{6418D525-95EC-0BFA-E7D6-F1AE6EF366EC}"/>
              </a:ext>
            </a:extLst>
          </p:cNvPr>
          <p:cNvSpPr>
            <a:spLocks noGrp="1"/>
          </p:cNvSpPr>
          <p:nvPr>
            <p:ph idx="1"/>
          </p:nvPr>
        </p:nvSpPr>
        <p:spPr>
          <a:xfrm>
            <a:off x="457693" y="1091681"/>
            <a:ext cx="11145985" cy="4861249"/>
          </a:xfrm>
        </p:spPr>
        <p:txBody>
          <a:bodyPr>
            <a:normAutofit fontScale="92500" lnSpcReduction="20000"/>
          </a:bodyPr>
          <a:lstStyle/>
          <a:p>
            <a:pPr>
              <a:buFontTx/>
              <a:buChar char="-"/>
            </a:pPr>
            <a:r>
              <a:rPr lang="es-ES" dirty="0"/>
              <a:t>Ejercicios para practicar: Convertir las siguientes operaciones mutables en inmutables.</a:t>
            </a:r>
          </a:p>
          <a:p>
            <a:pPr marL="0" indent="0">
              <a:buNone/>
            </a:pPr>
            <a:r>
              <a:rPr lang="es-ES" dirty="0"/>
              <a:t>	</a:t>
            </a:r>
            <a:r>
              <a:rPr lang="es-ES" b="1" dirty="0"/>
              <a:t>PISTAS</a:t>
            </a:r>
          </a:p>
          <a:p>
            <a:pPr marL="0" indent="0">
              <a:buNone/>
            </a:pPr>
            <a:r>
              <a:rPr lang="es-ES" dirty="0"/>
              <a:t>	Usar el operador spread (…) para copiar </a:t>
            </a:r>
            <a:r>
              <a:rPr lang="es-ES" dirty="0" err="1"/>
              <a:t>arrays</a:t>
            </a:r>
            <a:endParaRPr lang="es-ES" dirty="0"/>
          </a:p>
          <a:p>
            <a:pPr marL="0" indent="0">
              <a:buNone/>
            </a:pPr>
            <a:r>
              <a:rPr lang="es-ES" dirty="0"/>
              <a:t>	Combinar métodos inmutables (</a:t>
            </a:r>
            <a:r>
              <a:rPr lang="es-ES" dirty="0" err="1"/>
              <a:t>map</a:t>
            </a:r>
            <a:r>
              <a:rPr lang="es-ES" dirty="0"/>
              <a:t>, </a:t>
            </a:r>
            <a:r>
              <a:rPr lang="es-ES" dirty="0" err="1"/>
              <a:t>filter</a:t>
            </a:r>
            <a:r>
              <a:rPr lang="es-ES" dirty="0"/>
              <a:t>, </a:t>
            </a:r>
            <a:r>
              <a:rPr lang="es-ES" dirty="0" err="1"/>
              <a:t>slice</a:t>
            </a:r>
            <a:r>
              <a:rPr lang="es-ES" dirty="0"/>
              <a:t>, </a:t>
            </a:r>
            <a:r>
              <a:rPr lang="es-ES" dirty="0" err="1"/>
              <a:t>concat</a:t>
            </a:r>
            <a:r>
              <a:rPr lang="es-ES" dirty="0"/>
              <a:t>…)</a:t>
            </a:r>
          </a:p>
          <a:p>
            <a:pPr marL="0" indent="0">
              <a:buNone/>
            </a:pPr>
            <a:r>
              <a:rPr lang="es-ES" dirty="0"/>
              <a:t>	El array original no debe cambiar</a:t>
            </a:r>
          </a:p>
          <a:p>
            <a:pPr marL="0" indent="0">
              <a:buNone/>
            </a:pPr>
            <a:endParaRPr lang="es-ES" dirty="0"/>
          </a:p>
          <a:p>
            <a:pPr>
              <a:buFontTx/>
              <a:buChar char="-"/>
            </a:pPr>
            <a:r>
              <a:rPr lang="es-ES" b="1" dirty="0"/>
              <a:t>1- Añadir elementos</a:t>
            </a:r>
          </a:p>
          <a:p>
            <a:pPr marL="0" indent="0">
              <a:buNone/>
            </a:pPr>
            <a:r>
              <a:rPr lang="es-ES" dirty="0"/>
              <a:t>	</a:t>
            </a:r>
            <a:r>
              <a:rPr lang="es-ES" dirty="0" err="1"/>
              <a:t>const</a:t>
            </a:r>
            <a:r>
              <a:rPr lang="es-ES" dirty="0"/>
              <a:t> </a:t>
            </a:r>
            <a:r>
              <a:rPr lang="es-ES" dirty="0" err="1"/>
              <a:t>arrayNum</a:t>
            </a:r>
            <a:r>
              <a:rPr lang="es-ES" dirty="0"/>
              <a:t> = [1, 2, 3];</a:t>
            </a:r>
          </a:p>
          <a:p>
            <a:pPr marL="0" indent="0">
              <a:buNone/>
            </a:pPr>
            <a:r>
              <a:rPr lang="es-ES" dirty="0"/>
              <a:t>	</a:t>
            </a:r>
            <a:r>
              <a:rPr lang="es-ES" dirty="0" err="1"/>
              <a:t>arrayNum.push</a:t>
            </a:r>
            <a:r>
              <a:rPr lang="es-ES" dirty="0"/>
              <a:t>(4);</a:t>
            </a:r>
          </a:p>
          <a:p>
            <a:pPr marL="0" indent="0">
              <a:buNone/>
            </a:pPr>
            <a:r>
              <a:rPr lang="es-ES" dirty="0"/>
              <a:t>	console.log(</a:t>
            </a:r>
            <a:r>
              <a:rPr lang="es-ES" dirty="0" err="1"/>
              <a:t>arrayNum</a:t>
            </a:r>
            <a:r>
              <a:rPr lang="es-ES" dirty="0"/>
              <a:t>); // [1, 2, 3, 4]</a:t>
            </a:r>
          </a:p>
          <a:p>
            <a:pPr marL="0" indent="0">
              <a:buNone/>
            </a:pPr>
            <a:r>
              <a:rPr lang="es-ES" dirty="0"/>
              <a:t>Hacer una versión inmutable que devuelva un nuevo array con el 4 añadido al final, sin modificar el original.</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637065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199E-3963-4B89-AC8D-623D9CDAC7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8E2D0C-671E-EDC8-110A-E29C366DA13A}"/>
              </a:ext>
            </a:extLst>
          </p:cNvPr>
          <p:cNvSpPr>
            <a:spLocks noGrp="1"/>
          </p:cNvSpPr>
          <p:nvPr>
            <p:ph type="title"/>
          </p:nvPr>
        </p:nvSpPr>
        <p:spPr/>
        <p:txBody>
          <a:bodyPr>
            <a:normAutofit fontScale="90000"/>
          </a:bodyPr>
          <a:lstStyle/>
          <a:p>
            <a:r>
              <a:rPr lang="es-ES" dirty="0"/>
              <a:t>2.6 – Programación funcional (Ejercicios)</a:t>
            </a:r>
          </a:p>
        </p:txBody>
      </p:sp>
      <p:sp>
        <p:nvSpPr>
          <p:cNvPr id="3" name="Marcador de contenido 2">
            <a:extLst>
              <a:ext uri="{FF2B5EF4-FFF2-40B4-BE49-F238E27FC236}">
                <a16:creationId xmlns:a16="http://schemas.microsoft.com/office/drawing/2014/main" id="{D0FD214E-6B87-955C-799F-C1D3A5A652F3}"/>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2- Eliminar elementos</a:t>
            </a:r>
            <a:endParaRPr lang="es-ES" dirty="0"/>
          </a:p>
          <a:p>
            <a:pPr marL="0" indent="0">
              <a:buNone/>
            </a:pPr>
            <a:r>
              <a:rPr lang="es-ES" dirty="0"/>
              <a:t>	</a:t>
            </a:r>
            <a:r>
              <a:rPr lang="es-ES" dirty="0" err="1"/>
              <a:t>const</a:t>
            </a:r>
            <a:r>
              <a:rPr lang="es-ES" dirty="0"/>
              <a:t> </a:t>
            </a:r>
            <a:r>
              <a:rPr lang="es-ES" dirty="0" err="1"/>
              <a:t>arrayNum</a:t>
            </a:r>
            <a:r>
              <a:rPr lang="es-ES" dirty="0"/>
              <a:t> = [1, 2, 3, 4];</a:t>
            </a:r>
          </a:p>
          <a:p>
            <a:pPr marL="0" indent="0">
              <a:buNone/>
            </a:pPr>
            <a:r>
              <a:rPr lang="es-ES" dirty="0"/>
              <a:t>	</a:t>
            </a:r>
            <a:r>
              <a:rPr lang="es-ES" dirty="0" err="1"/>
              <a:t>arrayNum.pop</a:t>
            </a:r>
            <a:r>
              <a:rPr lang="es-ES" dirty="0"/>
              <a:t>();</a:t>
            </a:r>
          </a:p>
          <a:p>
            <a:pPr marL="0" indent="0">
              <a:buNone/>
            </a:pPr>
            <a:r>
              <a:rPr lang="es-ES" dirty="0"/>
              <a:t>	console.log(</a:t>
            </a:r>
            <a:r>
              <a:rPr lang="es-ES" dirty="0" err="1"/>
              <a:t>arrayNum</a:t>
            </a:r>
            <a:r>
              <a:rPr lang="es-ES" dirty="0"/>
              <a:t>); // [1, 2, 3]</a:t>
            </a:r>
          </a:p>
          <a:p>
            <a:pPr marL="0" indent="0">
              <a:buNone/>
            </a:pPr>
            <a:endParaRPr lang="es-ES" dirty="0"/>
          </a:p>
          <a:p>
            <a:pPr marL="0" indent="0">
              <a:buNone/>
            </a:pPr>
            <a:r>
              <a:rPr lang="es-ES" dirty="0"/>
              <a:t>Hacer una versión inmutable que elimine el último elemento y devuelva un array nuevo</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40940437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CED2B-32A3-47C5-A4E8-346EFBAEE7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52B74B-B99F-FE5D-BD50-59AA01808C96}"/>
              </a:ext>
            </a:extLst>
          </p:cNvPr>
          <p:cNvSpPr>
            <a:spLocks noGrp="1"/>
          </p:cNvSpPr>
          <p:nvPr>
            <p:ph type="title"/>
          </p:nvPr>
        </p:nvSpPr>
        <p:spPr/>
        <p:txBody>
          <a:bodyPr>
            <a:normAutofit fontScale="90000"/>
          </a:bodyPr>
          <a:lstStyle/>
          <a:p>
            <a:r>
              <a:rPr lang="es-ES" dirty="0"/>
              <a:t>2.6 – Programación funcional (Ejercicios)</a:t>
            </a:r>
          </a:p>
        </p:txBody>
      </p:sp>
      <p:sp>
        <p:nvSpPr>
          <p:cNvPr id="3" name="Marcador de contenido 2">
            <a:extLst>
              <a:ext uri="{FF2B5EF4-FFF2-40B4-BE49-F238E27FC236}">
                <a16:creationId xmlns:a16="http://schemas.microsoft.com/office/drawing/2014/main" id="{794AF3BC-2C32-47A7-E944-0475C0DC160A}"/>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3- Insertar en el medio</a:t>
            </a:r>
            <a:endParaRPr lang="es-ES" dirty="0"/>
          </a:p>
          <a:p>
            <a:pPr marL="0" indent="0">
              <a:buNone/>
            </a:pPr>
            <a:r>
              <a:rPr lang="es-ES" dirty="0"/>
              <a:t>	</a:t>
            </a:r>
            <a:r>
              <a:rPr lang="es-ES" dirty="0" err="1"/>
              <a:t>const</a:t>
            </a:r>
            <a:r>
              <a:rPr lang="es-ES" dirty="0"/>
              <a:t> </a:t>
            </a:r>
            <a:r>
              <a:rPr lang="es-ES" dirty="0" err="1"/>
              <a:t>arrayNum</a:t>
            </a:r>
            <a:r>
              <a:rPr lang="es-ES" dirty="0"/>
              <a:t> = [1, 2, 4, 5];</a:t>
            </a:r>
          </a:p>
          <a:p>
            <a:pPr marL="0" indent="0">
              <a:buNone/>
            </a:pPr>
            <a:r>
              <a:rPr lang="es-ES" dirty="0"/>
              <a:t>	</a:t>
            </a:r>
            <a:r>
              <a:rPr lang="es-ES" dirty="0" err="1"/>
              <a:t>arrayNum.splice</a:t>
            </a:r>
            <a:r>
              <a:rPr lang="es-ES" dirty="0"/>
              <a:t>(2, 0, 3); // Inserta un 3 en la posición 2</a:t>
            </a:r>
          </a:p>
          <a:p>
            <a:pPr marL="0" indent="0">
              <a:buNone/>
            </a:pPr>
            <a:r>
              <a:rPr lang="es-ES" dirty="0"/>
              <a:t>	console.log(</a:t>
            </a:r>
            <a:r>
              <a:rPr lang="es-ES" dirty="0" err="1"/>
              <a:t>arrayNum</a:t>
            </a:r>
            <a:r>
              <a:rPr lang="es-ES" dirty="0"/>
              <a:t>); // [1, 2, 3, 4, 5]</a:t>
            </a:r>
          </a:p>
          <a:p>
            <a:pPr marL="0" indent="0">
              <a:buNone/>
            </a:pPr>
            <a:endParaRPr lang="es-ES" dirty="0"/>
          </a:p>
          <a:p>
            <a:pPr marL="0" indent="0">
              <a:buNone/>
            </a:pPr>
            <a:r>
              <a:rPr lang="es-ES" dirty="0"/>
              <a:t>Hacer una versión inmutable que inserte el número 3 en la posición correcta sin usar </a:t>
            </a:r>
            <a:r>
              <a:rPr lang="es-ES" dirty="0" err="1"/>
              <a:t>splice</a:t>
            </a:r>
            <a:r>
              <a:rPr lang="es-ES" dirty="0"/>
              <a:t>.</a:t>
            </a:r>
          </a:p>
          <a:p>
            <a:pPr>
              <a:buFontTx/>
              <a:buChar char="-"/>
            </a:pPr>
            <a:endParaRPr lang="es-ES" dirty="0"/>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3841145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71B7-F952-7942-1C7D-2C9FA19554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23F7C9-AC7B-79EC-762A-09285D6B075E}"/>
              </a:ext>
            </a:extLst>
          </p:cNvPr>
          <p:cNvSpPr>
            <a:spLocks noGrp="1"/>
          </p:cNvSpPr>
          <p:nvPr>
            <p:ph type="title"/>
          </p:nvPr>
        </p:nvSpPr>
        <p:spPr/>
        <p:txBody>
          <a:bodyPr>
            <a:normAutofit fontScale="90000"/>
          </a:bodyPr>
          <a:lstStyle/>
          <a:p>
            <a:r>
              <a:rPr lang="es-ES" dirty="0"/>
              <a:t>2.6 – Programación funcional (Ejercicios)</a:t>
            </a:r>
          </a:p>
        </p:txBody>
      </p:sp>
      <p:sp>
        <p:nvSpPr>
          <p:cNvPr id="3" name="Marcador de contenido 2">
            <a:extLst>
              <a:ext uri="{FF2B5EF4-FFF2-40B4-BE49-F238E27FC236}">
                <a16:creationId xmlns:a16="http://schemas.microsoft.com/office/drawing/2014/main" id="{A77C56CA-5A88-4793-F7EE-DECA9DABF615}"/>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4- Ordenar</a:t>
            </a:r>
            <a:endParaRPr lang="es-ES" dirty="0"/>
          </a:p>
          <a:p>
            <a:pPr marL="0" indent="0">
              <a:buNone/>
            </a:pPr>
            <a:r>
              <a:rPr lang="es-ES" dirty="0"/>
              <a:t>	</a:t>
            </a:r>
            <a:r>
              <a:rPr lang="fr-FR" dirty="0" err="1"/>
              <a:t>const</a:t>
            </a:r>
            <a:r>
              <a:rPr lang="fr-FR" dirty="0"/>
              <a:t> </a:t>
            </a:r>
            <a:r>
              <a:rPr lang="fr-FR" dirty="0" err="1"/>
              <a:t>arrayNum</a:t>
            </a:r>
            <a:r>
              <a:rPr lang="fr-FR" dirty="0"/>
              <a:t> = [3, 1, 2];</a:t>
            </a:r>
          </a:p>
          <a:p>
            <a:pPr marL="0" indent="0">
              <a:buNone/>
            </a:pPr>
            <a:r>
              <a:rPr lang="fr-FR" dirty="0"/>
              <a:t>	</a:t>
            </a:r>
            <a:r>
              <a:rPr lang="fr-FR" dirty="0" err="1"/>
              <a:t>arrayNum.sort</a:t>
            </a:r>
            <a:r>
              <a:rPr lang="fr-FR" dirty="0"/>
              <a:t>();</a:t>
            </a:r>
          </a:p>
          <a:p>
            <a:pPr marL="0" indent="0">
              <a:buNone/>
            </a:pPr>
            <a:r>
              <a:rPr lang="fr-FR" dirty="0"/>
              <a:t>	console.log(</a:t>
            </a:r>
            <a:r>
              <a:rPr lang="fr-FR" dirty="0" err="1"/>
              <a:t>arrayNum</a:t>
            </a:r>
            <a:r>
              <a:rPr lang="fr-FR" dirty="0"/>
              <a:t>); // [1, 2, 3]</a:t>
            </a:r>
          </a:p>
          <a:p>
            <a:pPr marL="0" indent="0">
              <a:buNone/>
            </a:pPr>
            <a:endParaRPr lang="es-ES" dirty="0"/>
          </a:p>
          <a:p>
            <a:pPr marL="0" indent="0">
              <a:buNone/>
            </a:pPr>
            <a:r>
              <a:rPr lang="es-ES" dirty="0"/>
              <a:t>Hacer una versión inmutable que devuelva un array ordenado, sin modificar el original.</a:t>
            </a: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1144754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EAC6-3E36-A716-2393-14486E91F3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75DB7B-D977-D42B-A451-2D7EC9EA5397}"/>
              </a:ext>
            </a:extLst>
          </p:cNvPr>
          <p:cNvSpPr>
            <a:spLocks noGrp="1"/>
          </p:cNvSpPr>
          <p:nvPr>
            <p:ph type="title"/>
          </p:nvPr>
        </p:nvSpPr>
        <p:spPr/>
        <p:txBody>
          <a:bodyPr>
            <a:normAutofit fontScale="90000"/>
          </a:bodyPr>
          <a:lstStyle/>
          <a:p>
            <a:r>
              <a:rPr lang="es-ES" dirty="0"/>
              <a:t>2.6 – Programación funcional (Ejercicios)</a:t>
            </a:r>
          </a:p>
        </p:txBody>
      </p:sp>
      <p:sp>
        <p:nvSpPr>
          <p:cNvPr id="3" name="Marcador de contenido 2">
            <a:extLst>
              <a:ext uri="{FF2B5EF4-FFF2-40B4-BE49-F238E27FC236}">
                <a16:creationId xmlns:a16="http://schemas.microsoft.com/office/drawing/2014/main" id="{4F79B85C-CCBC-95E6-4647-830C1090A3B0}"/>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5- Reemplazar elementos</a:t>
            </a:r>
            <a:endParaRPr lang="es-ES" dirty="0"/>
          </a:p>
          <a:p>
            <a:pPr marL="0" indent="0">
              <a:buNone/>
            </a:pPr>
            <a:r>
              <a:rPr lang="es-ES" dirty="0"/>
              <a:t>	</a:t>
            </a:r>
            <a:r>
              <a:rPr lang="fr-FR" dirty="0" err="1"/>
              <a:t>const</a:t>
            </a:r>
            <a:r>
              <a:rPr lang="fr-FR" dirty="0"/>
              <a:t> </a:t>
            </a:r>
            <a:r>
              <a:rPr lang="fr-FR" dirty="0" err="1"/>
              <a:t>arrayNum</a:t>
            </a:r>
            <a:r>
              <a:rPr lang="fr-FR" dirty="0"/>
              <a:t> = [1, 2, 3];</a:t>
            </a:r>
          </a:p>
          <a:p>
            <a:pPr marL="0" indent="0">
              <a:buNone/>
            </a:pPr>
            <a:r>
              <a:rPr lang="fr-FR" dirty="0"/>
              <a:t>	</a:t>
            </a:r>
            <a:r>
              <a:rPr lang="fr-FR" dirty="0" err="1"/>
              <a:t>arrayNum</a:t>
            </a:r>
            <a:r>
              <a:rPr lang="fr-FR" dirty="0"/>
              <a:t>[1] = 20;</a:t>
            </a:r>
          </a:p>
          <a:p>
            <a:pPr marL="0" indent="0">
              <a:buNone/>
            </a:pPr>
            <a:r>
              <a:rPr lang="fr-FR" dirty="0"/>
              <a:t>	console.log(</a:t>
            </a:r>
            <a:r>
              <a:rPr lang="fr-FR" dirty="0" err="1"/>
              <a:t>arrayNum</a:t>
            </a:r>
            <a:r>
              <a:rPr lang="fr-FR" dirty="0"/>
              <a:t>); // [1, 20, 3]</a:t>
            </a:r>
          </a:p>
          <a:p>
            <a:pPr marL="0" indent="0">
              <a:buNone/>
            </a:pPr>
            <a:endParaRPr lang="es-ES" dirty="0"/>
          </a:p>
          <a:p>
            <a:pPr marL="0" indent="0">
              <a:buNone/>
            </a:pPr>
            <a:r>
              <a:rPr lang="es-ES" dirty="0"/>
              <a:t>Hacer una versión inmutable que reemplace el 2 por 20.</a:t>
            </a:r>
          </a:p>
          <a:p>
            <a:pPr marL="0" indent="0">
              <a:buNone/>
            </a:pPr>
            <a:r>
              <a:rPr lang="es-ES" dirty="0"/>
              <a:t>Este tipo de ejercicio prepara </a:t>
            </a:r>
            <a:r>
              <a:rPr lang="es-ES" b="1" dirty="0"/>
              <a:t>directamente para </a:t>
            </a:r>
            <a:r>
              <a:rPr lang="es-ES" b="1" dirty="0" err="1"/>
              <a:t>React</a:t>
            </a:r>
            <a:r>
              <a:rPr lang="es-ES" dirty="0"/>
              <a:t>, porque en </a:t>
            </a:r>
            <a:r>
              <a:rPr lang="es-ES" dirty="0" err="1"/>
              <a:t>React</a:t>
            </a:r>
            <a:r>
              <a:rPr lang="es-ES" dirty="0"/>
              <a:t> </a:t>
            </a:r>
            <a:r>
              <a:rPr lang="es-ES" b="1" dirty="0"/>
              <a:t>el estado nunca se modifica directamente</a:t>
            </a:r>
            <a:r>
              <a:rPr lang="es-ES" dirty="0"/>
              <a:t>, siempre se crea uno nuevo a partir del anterior.</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12322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FDEF5-6F82-531A-99A5-5BCF55F3F5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8CCC0D-A0B2-0D50-75B5-6BE28EBF2F69}"/>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C62DB3C1-5CCC-06E8-00FF-2817E343066A}"/>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1- Añadir elementos</a:t>
            </a:r>
            <a:endParaRPr lang="es-ES" dirty="0"/>
          </a:p>
          <a:p>
            <a:pPr marL="0" indent="0">
              <a:buNone/>
            </a:pPr>
            <a:r>
              <a:rPr lang="es-ES" dirty="0"/>
              <a:t>	</a:t>
            </a:r>
            <a:r>
              <a:rPr lang="es-ES" dirty="0" err="1"/>
              <a:t>const</a:t>
            </a:r>
            <a:r>
              <a:rPr lang="es-ES" dirty="0"/>
              <a:t> </a:t>
            </a:r>
            <a:r>
              <a:rPr lang="es-ES" dirty="0" err="1"/>
              <a:t>arrayNum</a:t>
            </a:r>
            <a:r>
              <a:rPr lang="es-ES" dirty="0"/>
              <a:t> = [1, 2, 3];</a:t>
            </a:r>
          </a:p>
          <a:p>
            <a:pPr marL="0" indent="0">
              <a:buNone/>
            </a:pPr>
            <a:r>
              <a:rPr lang="es-ES" dirty="0"/>
              <a:t>	</a:t>
            </a:r>
            <a:r>
              <a:rPr lang="es-ES" dirty="0" err="1"/>
              <a:t>const</a:t>
            </a:r>
            <a:r>
              <a:rPr lang="es-ES" dirty="0"/>
              <a:t> </a:t>
            </a:r>
            <a:r>
              <a:rPr lang="es-ES" dirty="0" err="1"/>
              <a:t>arrayNuevo</a:t>
            </a:r>
            <a:r>
              <a:rPr lang="es-ES" dirty="0"/>
              <a:t> = [...</a:t>
            </a:r>
            <a:r>
              <a:rPr lang="es-ES" dirty="0" err="1"/>
              <a:t>arrayNum</a:t>
            </a:r>
            <a:r>
              <a:rPr lang="es-ES" dirty="0"/>
              <a:t>, 4]; //copia + añadimos</a:t>
            </a:r>
          </a:p>
          <a:p>
            <a:pPr marL="0" indent="0">
              <a:buNone/>
            </a:pPr>
            <a:r>
              <a:rPr lang="es-ES" dirty="0"/>
              <a:t>	console.log(</a:t>
            </a:r>
            <a:r>
              <a:rPr lang="es-ES" dirty="0" err="1"/>
              <a:t>arrayNum</a:t>
            </a:r>
            <a:r>
              <a:rPr lang="es-ES" dirty="0"/>
              <a:t>);   //[1, 2, 3]</a:t>
            </a:r>
          </a:p>
          <a:p>
            <a:pPr marL="0" indent="0">
              <a:buNone/>
            </a:pPr>
            <a:r>
              <a:rPr lang="es-ES" dirty="0"/>
              <a:t>	console.log(</a:t>
            </a:r>
            <a:r>
              <a:rPr lang="es-ES" dirty="0" err="1"/>
              <a:t>arrayNuevo</a:t>
            </a:r>
            <a:r>
              <a:rPr lang="es-ES" dirty="0"/>
              <a:t>); //[1, 2, 3, 4]</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6965222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E875A-D90D-1D1C-0B5A-8C11B88B85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236C98-17BA-9FAA-70A7-951F3BBCEFCC}"/>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6B324684-BC3B-E0B0-3333-861180028D28}"/>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2- Eliminar elementos</a:t>
            </a:r>
            <a:endParaRPr lang="es-ES" dirty="0"/>
          </a:p>
          <a:p>
            <a:pPr marL="0" indent="0">
              <a:buNone/>
            </a:pPr>
            <a:r>
              <a:rPr lang="es-ES" dirty="0"/>
              <a:t>	</a:t>
            </a:r>
            <a:r>
              <a:rPr lang="es-ES" dirty="0" err="1"/>
              <a:t>const</a:t>
            </a:r>
            <a:r>
              <a:rPr lang="es-ES" dirty="0"/>
              <a:t> </a:t>
            </a:r>
            <a:r>
              <a:rPr lang="es-ES" dirty="0" err="1"/>
              <a:t>arrayNum</a:t>
            </a:r>
            <a:r>
              <a:rPr lang="es-ES" dirty="0"/>
              <a:t> = [1, 2, 3, 4];</a:t>
            </a:r>
          </a:p>
          <a:p>
            <a:pPr marL="0" indent="0">
              <a:buNone/>
            </a:pPr>
            <a:r>
              <a:rPr lang="es-ES" dirty="0"/>
              <a:t>	</a:t>
            </a:r>
            <a:r>
              <a:rPr lang="es-ES" dirty="0" err="1"/>
              <a:t>const</a:t>
            </a:r>
            <a:r>
              <a:rPr lang="es-ES" dirty="0"/>
              <a:t> </a:t>
            </a:r>
            <a:r>
              <a:rPr lang="es-ES" dirty="0" err="1"/>
              <a:t>arrayNuevo</a:t>
            </a:r>
            <a:r>
              <a:rPr lang="es-ES" dirty="0"/>
              <a:t> = </a:t>
            </a:r>
            <a:r>
              <a:rPr lang="es-ES" dirty="0" err="1"/>
              <a:t>arrayNum.slice</a:t>
            </a:r>
            <a:r>
              <a:rPr lang="es-ES" dirty="0"/>
              <a:t>(0, -1); //Crear un nuevo array que excluya el último</a:t>
            </a:r>
          </a:p>
          <a:p>
            <a:pPr marL="0" indent="0">
              <a:buNone/>
            </a:pPr>
            <a:endParaRPr lang="es-ES" dirty="0"/>
          </a:p>
          <a:p>
            <a:pPr marL="0" indent="0">
              <a:buNone/>
            </a:pPr>
            <a:r>
              <a:rPr lang="es-ES" dirty="0"/>
              <a:t>	console.log(</a:t>
            </a:r>
            <a:r>
              <a:rPr lang="es-ES" dirty="0" err="1"/>
              <a:t>arrayNum</a:t>
            </a:r>
            <a:r>
              <a:rPr lang="es-ES" dirty="0"/>
              <a:t>);   // [1, 2, 3, 4] → original intacto</a:t>
            </a:r>
          </a:p>
          <a:p>
            <a:pPr marL="0" indent="0">
              <a:buNone/>
            </a:pPr>
            <a:r>
              <a:rPr lang="es-ES" dirty="0"/>
              <a:t>	console.log(</a:t>
            </a:r>
            <a:r>
              <a:rPr lang="es-ES" dirty="0" err="1"/>
              <a:t>arrayNuevo</a:t>
            </a:r>
            <a:r>
              <a:rPr lang="es-ES" dirty="0"/>
              <a:t>); // [1, 2, 3]</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2849694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0CE2-20DE-9426-6FF9-5DEAA8F751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0EF72E-4CBB-4C67-E631-D480504A5390}"/>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EB8DB9B6-ADFD-D857-59F3-659E1069CE48}"/>
              </a:ext>
            </a:extLst>
          </p:cNvPr>
          <p:cNvSpPr>
            <a:spLocks noGrp="1"/>
          </p:cNvSpPr>
          <p:nvPr>
            <p:ph idx="1"/>
          </p:nvPr>
        </p:nvSpPr>
        <p:spPr>
          <a:xfrm>
            <a:off x="457693" y="1091682"/>
            <a:ext cx="11145985" cy="4444664"/>
          </a:xfrm>
        </p:spPr>
        <p:txBody>
          <a:bodyPr>
            <a:normAutofit fontScale="77500" lnSpcReduction="20000"/>
          </a:bodyPr>
          <a:lstStyle/>
          <a:p>
            <a:pPr marL="0" indent="0">
              <a:buNone/>
            </a:pPr>
            <a:endParaRPr lang="es-ES" dirty="0"/>
          </a:p>
          <a:p>
            <a:pPr>
              <a:buFontTx/>
              <a:buChar char="-"/>
            </a:pPr>
            <a:r>
              <a:rPr lang="es-ES" b="1" dirty="0"/>
              <a:t>3- Insertar en el medio</a:t>
            </a:r>
            <a:endParaRPr lang="es-ES" dirty="0"/>
          </a:p>
          <a:p>
            <a:pPr marL="0" indent="0">
              <a:buNone/>
            </a:pPr>
            <a:r>
              <a:rPr lang="es-ES" dirty="0"/>
              <a:t>		</a:t>
            </a:r>
            <a:r>
              <a:rPr lang="es-ES" dirty="0" err="1"/>
              <a:t>const</a:t>
            </a:r>
            <a:r>
              <a:rPr lang="es-ES" dirty="0"/>
              <a:t> </a:t>
            </a:r>
            <a:r>
              <a:rPr lang="es-ES" dirty="0" err="1"/>
              <a:t>arrayNum</a:t>
            </a:r>
            <a:r>
              <a:rPr lang="es-ES" dirty="0"/>
              <a:t> = [1, 2, 4, 5];</a:t>
            </a:r>
          </a:p>
          <a:p>
            <a:pPr marL="0" indent="0">
              <a:buNone/>
            </a:pPr>
            <a:r>
              <a:rPr lang="es-ES" dirty="0"/>
              <a:t>	//Partir el array en dos y meter el nuevo valor en medio</a:t>
            </a:r>
          </a:p>
          <a:p>
            <a:pPr marL="0" indent="0">
              <a:buNone/>
            </a:pPr>
            <a:r>
              <a:rPr lang="es-ES" dirty="0"/>
              <a:t>	</a:t>
            </a:r>
            <a:r>
              <a:rPr lang="es-ES" dirty="0" err="1"/>
              <a:t>const</a:t>
            </a:r>
            <a:r>
              <a:rPr lang="es-ES" dirty="0"/>
              <a:t> </a:t>
            </a:r>
            <a:r>
              <a:rPr lang="es-ES" dirty="0" err="1"/>
              <a:t>arrayNuevo</a:t>
            </a:r>
            <a:r>
              <a:rPr lang="es-ES" dirty="0"/>
              <a:t> = [</a:t>
            </a:r>
          </a:p>
          <a:p>
            <a:pPr marL="0" indent="0">
              <a:buNone/>
            </a:pPr>
            <a:r>
              <a:rPr lang="es-ES" dirty="0"/>
              <a:t>  	...</a:t>
            </a:r>
            <a:r>
              <a:rPr lang="es-ES" dirty="0" err="1"/>
              <a:t>arrayNum.slice</a:t>
            </a:r>
            <a:r>
              <a:rPr lang="es-ES" dirty="0"/>
              <a:t>(0, 2), //hasta el índice 2 sin incluirlo</a:t>
            </a:r>
          </a:p>
          <a:p>
            <a:pPr marL="0" indent="0">
              <a:buNone/>
            </a:pPr>
            <a:r>
              <a:rPr lang="es-ES" dirty="0"/>
              <a:t>  	3,                  //el nuevo elemento</a:t>
            </a:r>
          </a:p>
          <a:p>
            <a:pPr marL="0" indent="0">
              <a:buNone/>
            </a:pPr>
            <a:r>
              <a:rPr lang="es-ES" dirty="0"/>
              <a:t> 	 ...</a:t>
            </a:r>
            <a:r>
              <a:rPr lang="es-ES" dirty="0" err="1"/>
              <a:t>arrayNum.slice</a:t>
            </a:r>
            <a:r>
              <a:rPr lang="es-ES" dirty="0"/>
              <a:t>(2)     //desde el índice 2 hasta el final</a:t>
            </a:r>
          </a:p>
          <a:p>
            <a:pPr marL="0" indent="0">
              <a:buNone/>
            </a:pPr>
            <a:r>
              <a:rPr lang="es-ES" dirty="0"/>
              <a:t>	];</a:t>
            </a:r>
          </a:p>
          <a:p>
            <a:pPr marL="0" indent="0">
              <a:buNone/>
            </a:pPr>
            <a:endParaRPr lang="es-ES" dirty="0"/>
          </a:p>
          <a:p>
            <a:pPr marL="0" indent="0">
              <a:buNone/>
            </a:pPr>
            <a:r>
              <a:rPr lang="es-ES" dirty="0"/>
              <a:t>	console.log(</a:t>
            </a:r>
            <a:r>
              <a:rPr lang="es-ES" dirty="0" err="1"/>
              <a:t>arrayNum</a:t>
            </a:r>
            <a:r>
              <a:rPr lang="es-ES" dirty="0"/>
              <a:t>);   // [1, 2, 4, 5]</a:t>
            </a:r>
          </a:p>
          <a:p>
            <a:pPr marL="0" indent="0">
              <a:buNone/>
            </a:pPr>
            <a:r>
              <a:rPr lang="es-ES" dirty="0"/>
              <a:t>	console.log(</a:t>
            </a:r>
            <a:r>
              <a:rPr lang="es-ES" dirty="0" err="1"/>
              <a:t>arrayNuevo</a:t>
            </a:r>
            <a:r>
              <a:rPr lang="es-ES" dirty="0"/>
              <a:t>); // [1, 2, 3, 4, 5]</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095256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8F6B-BD4E-0AA3-9726-5EF1311911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EF0D31-D583-0F13-E84A-F0D96B7D76F1}"/>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96A4D60F-3F47-9542-581D-FBF5218BE183}"/>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4- Ordenar</a:t>
            </a:r>
            <a:endParaRPr lang="es-ES" dirty="0"/>
          </a:p>
          <a:p>
            <a:pPr marL="0" indent="0">
              <a:buNone/>
            </a:pPr>
            <a:r>
              <a:rPr lang="es-ES" dirty="0"/>
              <a:t>		</a:t>
            </a:r>
            <a:r>
              <a:rPr lang="es-ES" dirty="0" err="1"/>
              <a:t>const</a:t>
            </a:r>
            <a:r>
              <a:rPr lang="es-ES" dirty="0"/>
              <a:t> </a:t>
            </a:r>
            <a:r>
              <a:rPr lang="es-ES" dirty="0" err="1"/>
              <a:t>arrayNum</a:t>
            </a:r>
            <a:r>
              <a:rPr lang="es-ES" dirty="0"/>
              <a:t> = [3, 1, 2];</a:t>
            </a:r>
          </a:p>
          <a:p>
            <a:pPr marL="0" indent="0">
              <a:buNone/>
            </a:pPr>
            <a:endParaRPr lang="es-ES" dirty="0"/>
          </a:p>
          <a:p>
            <a:pPr marL="0" indent="0">
              <a:buNone/>
            </a:pPr>
            <a:r>
              <a:rPr lang="es-ES" dirty="0"/>
              <a:t>	//Hacer una copia con spread y luego ordenar esa copia</a:t>
            </a:r>
          </a:p>
          <a:p>
            <a:pPr marL="0" indent="0">
              <a:buNone/>
            </a:pPr>
            <a:r>
              <a:rPr lang="es-ES" dirty="0"/>
              <a:t>	</a:t>
            </a:r>
            <a:r>
              <a:rPr lang="es-ES" dirty="0" err="1"/>
              <a:t>const</a:t>
            </a:r>
            <a:r>
              <a:rPr lang="es-ES" dirty="0"/>
              <a:t> </a:t>
            </a:r>
            <a:r>
              <a:rPr lang="es-ES" dirty="0" err="1"/>
              <a:t>arrayNuevo</a:t>
            </a:r>
            <a:r>
              <a:rPr lang="es-ES" dirty="0"/>
              <a:t> = [...</a:t>
            </a:r>
            <a:r>
              <a:rPr lang="es-ES" dirty="0" err="1"/>
              <a:t>arr</a:t>
            </a:r>
            <a:r>
              <a:rPr lang="es-ES" dirty="0"/>
              <a:t>].</a:t>
            </a:r>
            <a:r>
              <a:rPr lang="es-ES" dirty="0" err="1"/>
              <a:t>sort</a:t>
            </a:r>
            <a:r>
              <a:rPr lang="es-ES" dirty="0"/>
              <a:t>();</a:t>
            </a:r>
          </a:p>
          <a:p>
            <a:pPr marL="0" indent="0">
              <a:buNone/>
            </a:pPr>
            <a:endParaRPr lang="es-ES" dirty="0"/>
          </a:p>
          <a:p>
            <a:pPr marL="0" indent="0">
              <a:buNone/>
            </a:pPr>
            <a:r>
              <a:rPr lang="es-ES" dirty="0"/>
              <a:t>	console.log(</a:t>
            </a:r>
            <a:r>
              <a:rPr lang="es-ES" dirty="0" err="1"/>
              <a:t>arrayNum</a:t>
            </a:r>
            <a:r>
              <a:rPr lang="es-ES" dirty="0"/>
              <a:t>);   // [3, 1, 2] → original intacto</a:t>
            </a:r>
          </a:p>
          <a:p>
            <a:pPr marL="0" indent="0">
              <a:buNone/>
            </a:pPr>
            <a:r>
              <a:rPr lang="es-ES" dirty="0"/>
              <a:t>	console.log(</a:t>
            </a:r>
            <a:r>
              <a:rPr lang="es-ES" dirty="0" err="1"/>
              <a:t>arrayNuevo</a:t>
            </a:r>
            <a:r>
              <a:rPr lang="es-ES" dirty="0"/>
              <a:t>); // [1, 2, 3]</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4992452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AA824-2583-A58A-DE38-6AD2D8BA38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B5D446-331B-3682-E092-947ACCDCB7CB}"/>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AEF31031-94BA-2AC0-FD88-F660EBAF3B6A}"/>
              </a:ext>
            </a:extLst>
          </p:cNvPr>
          <p:cNvSpPr>
            <a:spLocks noGrp="1"/>
          </p:cNvSpPr>
          <p:nvPr>
            <p:ph idx="1"/>
          </p:nvPr>
        </p:nvSpPr>
        <p:spPr>
          <a:xfrm>
            <a:off x="457693" y="1091682"/>
            <a:ext cx="11145985" cy="4444664"/>
          </a:xfrm>
        </p:spPr>
        <p:txBody>
          <a:bodyPr>
            <a:normAutofit/>
          </a:bodyPr>
          <a:lstStyle/>
          <a:p>
            <a:pPr marL="0" indent="0">
              <a:buNone/>
            </a:pPr>
            <a:endParaRPr lang="es-ES" dirty="0"/>
          </a:p>
          <a:p>
            <a:pPr>
              <a:buFontTx/>
              <a:buChar char="-"/>
            </a:pPr>
            <a:r>
              <a:rPr lang="es-ES" b="1" dirty="0"/>
              <a:t>5- Reemplazar elementos</a:t>
            </a:r>
            <a:endParaRPr lang="es-ES" dirty="0"/>
          </a:p>
          <a:p>
            <a:pPr marL="0" indent="0">
              <a:buNone/>
            </a:pPr>
            <a:r>
              <a:rPr lang="es-ES" dirty="0"/>
              <a:t>		</a:t>
            </a:r>
            <a:r>
              <a:rPr lang="es-ES" dirty="0" err="1"/>
              <a:t>const</a:t>
            </a:r>
            <a:r>
              <a:rPr lang="es-ES" dirty="0"/>
              <a:t> </a:t>
            </a:r>
            <a:r>
              <a:rPr lang="es-ES" dirty="0" err="1"/>
              <a:t>arrayNum</a:t>
            </a:r>
            <a:r>
              <a:rPr lang="es-ES" dirty="0"/>
              <a:t> = [1, 2, 3];</a:t>
            </a:r>
          </a:p>
          <a:p>
            <a:pPr marL="0" indent="0">
              <a:buNone/>
            </a:pPr>
            <a:endParaRPr lang="es-ES" dirty="0"/>
          </a:p>
          <a:p>
            <a:pPr marL="0" indent="0">
              <a:buNone/>
            </a:pPr>
            <a:r>
              <a:rPr lang="es-ES" dirty="0"/>
              <a:t>	//Usar </a:t>
            </a:r>
            <a:r>
              <a:rPr lang="es-ES" dirty="0" err="1"/>
              <a:t>map</a:t>
            </a:r>
            <a:r>
              <a:rPr lang="es-ES" dirty="0"/>
              <a:t> para crear un nuevo array modificando solo el índice deseado</a:t>
            </a:r>
          </a:p>
          <a:p>
            <a:pPr marL="0" indent="0">
              <a:buNone/>
            </a:pPr>
            <a:r>
              <a:rPr lang="es-ES" dirty="0"/>
              <a:t>	</a:t>
            </a:r>
            <a:r>
              <a:rPr lang="es-ES" dirty="0" err="1"/>
              <a:t>const</a:t>
            </a:r>
            <a:r>
              <a:rPr lang="es-ES" dirty="0"/>
              <a:t> </a:t>
            </a:r>
            <a:r>
              <a:rPr lang="es-ES" dirty="0" err="1"/>
              <a:t>arrayNuevo</a:t>
            </a:r>
            <a:r>
              <a:rPr lang="es-ES" dirty="0"/>
              <a:t> = </a:t>
            </a:r>
            <a:r>
              <a:rPr lang="es-ES" dirty="0" err="1"/>
              <a:t>arrayNum.map</a:t>
            </a:r>
            <a:r>
              <a:rPr lang="es-ES" dirty="0"/>
              <a:t>((</a:t>
            </a:r>
            <a:r>
              <a:rPr lang="es-ES" dirty="0" err="1"/>
              <a:t>num</a:t>
            </a:r>
            <a:r>
              <a:rPr lang="es-ES" dirty="0"/>
              <a:t>, i) =&gt; i === 1 ? 20 : </a:t>
            </a:r>
            <a:r>
              <a:rPr lang="es-ES" dirty="0" err="1"/>
              <a:t>num</a:t>
            </a:r>
            <a:r>
              <a:rPr lang="es-ES" dirty="0"/>
              <a:t>);</a:t>
            </a:r>
          </a:p>
          <a:p>
            <a:pPr marL="0" indent="0">
              <a:buNone/>
            </a:pPr>
            <a:endParaRPr lang="es-ES" dirty="0"/>
          </a:p>
          <a:p>
            <a:pPr marL="0" indent="0">
              <a:buNone/>
            </a:pPr>
            <a:r>
              <a:rPr lang="es-ES" dirty="0"/>
              <a:t>	console.log(</a:t>
            </a:r>
            <a:r>
              <a:rPr lang="es-ES" dirty="0" err="1"/>
              <a:t>arrayNum</a:t>
            </a:r>
            <a:r>
              <a:rPr lang="es-ES" dirty="0"/>
              <a:t>);   // [1, 2, 3]</a:t>
            </a:r>
          </a:p>
          <a:p>
            <a:pPr marL="0" indent="0">
              <a:buNone/>
            </a:pPr>
            <a:r>
              <a:rPr lang="es-ES" dirty="0"/>
              <a:t>	console.log(</a:t>
            </a:r>
            <a:r>
              <a:rPr lang="es-ES" dirty="0" err="1"/>
              <a:t>arrayNuevo</a:t>
            </a:r>
            <a:r>
              <a:rPr lang="es-ES" dirty="0"/>
              <a:t>); // [1, 20, 3]</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1386804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DC960-EB39-AF8C-9937-081B9720A3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A8F90F-201E-3207-B9E0-5A388EEA848E}"/>
              </a:ext>
            </a:extLst>
          </p:cNvPr>
          <p:cNvSpPr>
            <a:spLocks noGrp="1"/>
          </p:cNvSpPr>
          <p:nvPr>
            <p:ph type="title"/>
          </p:nvPr>
        </p:nvSpPr>
        <p:spPr/>
        <p:txBody>
          <a:bodyPr>
            <a:normAutofit fontScale="90000"/>
          </a:bodyPr>
          <a:lstStyle/>
          <a:p>
            <a:r>
              <a:rPr lang="es-ES" dirty="0"/>
              <a:t>2.6 – Programación funcional (Ejercicios, soluciones)</a:t>
            </a:r>
          </a:p>
        </p:txBody>
      </p:sp>
      <p:sp>
        <p:nvSpPr>
          <p:cNvPr id="3" name="Marcador de contenido 2">
            <a:extLst>
              <a:ext uri="{FF2B5EF4-FFF2-40B4-BE49-F238E27FC236}">
                <a16:creationId xmlns:a16="http://schemas.microsoft.com/office/drawing/2014/main" id="{F442482F-EBC5-3A03-8F0E-54B07085CBEB}"/>
              </a:ext>
            </a:extLst>
          </p:cNvPr>
          <p:cNvSpPr>
            <a:spLocks noGrp="1"/>
          </p:cNvSpPr>
          <p:nvPr>
            <p:ph idx="1"/>
          </p:nvPr>
        </p:nvSpPr>
        <p:spPr>
          <a:xfrm>
            <a:off x="457693" y="1091682"/>
            <a:ext cx="11145985" cy="4444664"/>
          </a:xfrm>
        </p:spPr>
        <p:txBody>
          <a:bodyPr>
            <a:normAutofit/>
          </a:bodyPr>
          <a:lstStyle/>
          <a:p>
            <a:pPr marL="0" indent="0">
              <a:buNone/>
            </a:pPr>
            <a:endParaRPr lang="es-ES" dirty="0"/>
          </a:p>
          <a:p>
            <a:pPr marL="0" indent="0">
              <a:buNone/>
            </a:pPr>
            <a:r>
              <a:rPr lang="es-ES" b="1" dirty="0"/>
              <a:t>					EN RESUMEN</a:t>
            </a:r>
          </a:p>
          <a:p>
            <a:pPr marL="0" indent="0">
              <a:buNone/>
            </a:pPr>
            <a:endParaRPr lang="es-ES" b="1" dirty="0"/>
          </a:p>
          <a:p>
            <a:pPr marL="0" indent="0">
              <a:buNone/>
            </a:pPr>
            <a:r>
              <a:rPr lang="es-ES" b="1" dirty="0"/>
              <a:t>- </a:t>
            </a:r>
            <a:r>
              <a:rPr lang="es-ES" b="1" dirty="0" err="1"/>
              <a:t>slice</a:t>
            </a:r>
            <a:r>
              <a:rPr lang="es-ES" b="1" dirty="0"/>
              <a:t> y spread </a:t>
            </a:r>
            <a:r>
              <a:rPr lang="es-ES" dirty="0"/>
              <a:t>(...) son ideales para copiar partes de un array.</a:t>
            </a:r>
          </a:p>
          <a:p>
            <a:pPr marL="0" indent="0">
              <a:buNone/>
            </a:pPr>
            <a:r>
              <a:rPr lang="es-ES" b="1" dirty="0"/>
              <a:t>- </a:t>
            </a:r>
            <a:r>
              <a:rPr lang="es-ES" b="1" dirty="0" err="1"/>
              <a:t>map</a:t>
            </a:r>
            <a:r>
              <a:rPr lang="es-ES" dirty="0"/>
              <a:t> es perfecto para reemplazar valores sin tocar el original.</a:t>
            </a:r>
          </a:p>
          <a:p>
            <a:pPr marL="0" indent="0">
              <a:buNone/>
            </a:pPr>
            <a:r>
              <a:rPr lang="es-ES" b="1" dirty="0"/>
              <a:t>- </a:t>
            </a:r>
            <a:r>
              <a:rPr lang="es-ES" b="1" dirty="0" err="1"/>
              <a:t>sort</a:t>
            </a:r>
            <a:r>
              <a:rPr lang="es-ES" b="1" dirty="0"/>
              <a:t> y reverse </a:t>
            </a:r>
            <a:r>
              <a:rPr lang="es-ES" dirty="0"/>
              <a:t>son mutables, pero se pueden “arreglar” copiando antes con spread.</a:t>
            </a:r>
          </a:p>
          <a:p>
            <a:pPr marL="0" indent="0">
              <a:buNone/>
            </a:pPr>
            <a:r>
              <a:rPr lang="es-ES" dirty="0"/>
              <a:t>- La idea siempre es </a:t>
            </a:r>
            <a:r>
              <a:rPr lang="es-ES" b="1" dirty="0"/>
              <a:t>generar un array nuevo</a:t>
            </a:r>
            <a:r>
              <a:rPr lang="es-ES" dirty="0"/>
              <a:t> en lugar de alterar el existente.</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5329852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E8FF-3315-8AD9-6C1A-5453F73ABE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7CC492-91F7-B662-15D2-EBEF7FC231F1}"/>
              </a:ext>
            </a:extLst>
          </p:cNvPr>
          <p:cNvSpPr>
            <a:spLocks noGrp="1"/>
          </p:cNvSpPr>
          <p:nvPr>
            <p:ph type="title"/>
          </p:nvPr>
        </p:nvSpPr>
        <p:spPr/>
        <p:txBody>
          <a:bodyPr>
            <a:normAutofit fontScale="90000"/>
          </a:bodyPr>
          <a:lstStyle/>
          <a:p>
            <a:r>
              <a:rPr lang="es-ES" dirty="0"/>
              <a:t>2.7 – Funciones en JavaScript</a:t>
            </a:r>
          </a:p>
        </p:txBody>
      </p:sp>
      <p:sp>
        <p:nvSpPr>
          <p:cNvPr id="3" name="Marcador de contenido 2">
            <a:extLst>
              <a:ext uri="{FF2B5EF4-FFF2-40B4-BE49-F238E27FC236}">
                <a16:creationId xmlns:a16="http://schemas.microsoft.com/office/drawing/2014/main" id="{0879859A-FCB9-02CF-BFEE-CE00A6CFEF02}"/>
              </a:ext>
            </a:extLst>
          </p:cNvPr>
          <p:cNvSpPr>
            <a:spLocks noGrp="1"/>
          </p:cNvSpPr>
          <p:nvPr>
            <p:ph idx="1"/>
          </p:nvPr>
        </p:nvSpPr>
        <p:spPr>
          <a:xfrm>
            <a:off x="530200" y="1321654"/>
            <a:ext cx="11145985" cy="4444664"/>
          </a:xfrm>
        </p:spPr>
        <p:txBody>
          <a:bodyPr>
            <a:normAutofit/>
          </a:bodyPr>
          <a:lstStyle/>
          <a:p>
            <a:pPr marL="0" indent="0">
              <a:buNone/>
            </a:pPr>
            <a:r>
              <a:rPr lang="es-ES" dirty="0"/>
              <a:t>- Las funciones son una estructura para acotar código y reutilizarlo. Para crear una función se hace con la palabra reservada </a:t>
            </a:r>
            <a:r>
              <a:rPr lang="es-ES" b="1" dirty="0" err="1"/>
              <a:t>function</a:t>
            </a:r>
            <a:r>
              <a:rPr lang="es-ES" dirty="0"/>
              <a:t> seguida del nombre de la función en </a:t>
            </a:r>
            <a:r>
              <a:rPr lang="es-ES" dirty="0" err="1"/>
              <a:t>camelCase</a:t>
            </a:r>
            <a:r>
              <a:rPr lang="es-ES" dirty="0"/>
              <a:t> (los nombres de las funciones suelen ser verbos que determinan la acción que va a realizar dicha función). Finalmente, hay que ponerle paréntesis (dentro de los cuales irán los parámetros que le pasamos si tuviera)</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E2AD77C9-FF29-43BA-1372-636AF19DF0E0}"/>
              </a:ext>
            </a:extLst>
          </p:cNvPr>
          <p:cNvPicPr>
            <a:picLocks noChangeAspect="1"/>
          </p:cNvPicPr>
          <p:nvPr/>
        </p:nvPicPr>
        <p:blipFill>
          <a:blip r:embed="rId2"/>
          <a:stretch>
            <a:fillRect/>
          </a:stretch>
        </p:blipFill>
        <p:spPr>
          <a:xfrm>
            <a:off x="2873829" y="3186555"/>
            <a:ext cx="5215812" cy="3086909"/>
          </a:xfrm>
          <a:prstGeom prst="rect">
            <a:avLst/>
          </a:prstGeom>
        </p:spPr>
      </p:pic>
    </p:spTree>
    <p:extLst>
      <p:ext uri="{BB962C8B-B14F-4D97-AF65-F5344CB8AC3E}">
        <p14:creationId xmlns:p14="http://schemas.microsoft.com/office/powerpoint/2010/main" val="32955605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2.7 – Funciones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11145985" cy="4444664"/>
          </a:xfrm>
        </p:spPr>
        <p:txBody>
          <a:bodyPr>
            <a:normAutofit/>
          </a:bodyPr>
          <a:lstStyle/>
          <a:p>
            <a:pPr marL="0" indent="0">
              <a:buNone/>
            </a:pPr>
            <a:r>
              <a:rPr lang="es-ES" dirty="0"/>
              <a:t>- Una función puede retornar datos o no.</a:t>
            </a:r>
          </a:p>
          <a:p>
            <a:pPr marL="0" indent="0">
              <a:buNone/>
            </a:pPr>
            <a:r>
              <a:rPr lang="es-ES" dirty="0"/>
              <a:t>- En JavaScript se puede llamar a una función que aún no se ha creado, creándole debajo de dicha llamada, y no va a pasar nada. Esto no es algo típico de otros lenguajes de programación, en los que se necesita primero crear la función y después llamarla, porque si no daría error. En JS no es el caso</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68F1EB06-D9A7-4468-4E1E-18C082647044}"/>
              </a:ext>
            </a:extLst>
          </p:cNvPr>
          <p:cNvPicPr>
            <a:picLocks noChangeAspect="1"/>
          </p:cNvPicPr>
          <p:nvPr/>
        </p:nvPicPr>
        <p:blipFill>
          <a:blip r:embed="rId2"/>
          <a:stretch>
            <a:fillRect/>
          </a:stretch>
        </p:blipFill>
        <p:spPr>
          <a:xfrm>
            <a:off x="1299946" y="3202395"/>
            <a:ext cx="7278116" cy="2333951"/>
          </a:xfrm>
          <a:prstGeom prst="rect">
            <a:avLst/>
          </a:prstGeom>
        </p:spPr>
      </p:pic>
    </p:spTree>
    <p:extLst>
      <p:ext uri="{BB962C8B-B14F-4D97-AF65-F5344CB8AC3E}">
        <p14:creationId xmlns:p14="http://schemas.microsoft.com/office/powerpoint/2010/main" val="17076647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2.8 – Otro tipo de estructuras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4396363" cy="4444664"/>
          </a:xfrm>
        </p:spPr>
        <p:txBody>
          <a:bodyPr>
            <a:normAutofit/>
          </a:bodyPr>
          <a:lstStyle/>
          <a:p>
            <a:pPr marL="0" indent="0">
              <a:buNone/>
            </a:pPr>
            <a:r>
              <a:rPr lang="es-ES" dirty="0"/>
              <a:t>- Además de los </a:t>
            </a:r>
            <a:r>
              <a:rPr lang="es-ES" dirty="0" err="1"/>
              <a:t>arrays</a:t>
            </a:r>
            <a:r>
              <a:rPr lang="es-ES" dirty="0"/>
              <a:t> (o listas) que ya hemos visto antes, tenemos otro tipo de estructuras que podemos usar en JavaScript.</a:t>
            </a:r>
          </a:p>
          <a:p>
            <a:pPr marL="0" indent="0">
              <a:buNone/>
            </a:pPr>
            <a:r>
              <a:rPr lang="es-ES" dirty="0"/>
              <a:t>- Una de ellas es el </a:t>
            </a:r>
            <a:r>
              <a:rPr lang="es-ES" b="1" dirty="0"/>
              <a:t>Set</a:t>
            </a:r>
            <a:r>
              <a:rPr lang="es-ES" dirty="0"/>
              <a:t>, que es un array que no acepta elementos repetidos. De tal forma que si, por ejemplo, instanciamos un </a:t>
            </a:r>
            <a:r>
              <a:rPr lang="es-ES" b="1" dirty="0"/>
              <a:t>Set</a:t>
            </a:r>
            <a:r>
              <a:rPr lang="es-ES" dirty="0"/>
              <a:t> al que le pasamos un elemento repetido y lo imprimimos por consola, solo nos va a imprimir los elementos no repetidos.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71E57249-214B-59C8-528B-DC507583306B}"/>
              </a:ext>
            </a:extLst>
          </p:cNvPr>
          <p:cNvPicPr>
            <a:picLocks noChangeAspect="1"/>
          </p:cNvPicPr>
          <p:nvPr/>
        </p:nvPicPr>
        <p:blipFill>
          <a:blip r:embed="rId2"/>
          <a:stretch>
            <a:fillRect/>
          </a:stretch>
        </p:blipFill>
        <p:spPr>
          <a:xfrm>
            <a:off x="5337110" y="1053523"/>
            <a:ext cx="6021834" cy="4689468"/>
          </a:xfrm>
          <a:prstGeom prst="rect">
            <a:avLst/>
          </a:prstGeom>
        </p:spPr>
      </p:pic>
    </p:spTree>
    <p:extLst>
      <p:ext uri="{BB962C8B-B14F-4D97-AF65-F5344CB8AC3E}">
        <p14:creationId xmlns:p14="http://schemas.microsoft.com/office/powerpoint/2010/main" val="40320298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2.8 – Otro tipo de estructuras en JavaScript</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1321654"/>
            <a:ext cx="4396363" cy="4444664"/>
          </a:xfrm>
        </p:spPr>
        <p:txBody>
          <a:bodyPr>
            <a:normAutofit/>
          </a:bodyPr>
          <a:lstStyle/>
          <a:p>
            <a:pPr marL="0" indent="0">
              <a:buNone/>
            </a:pPr>
            <a:r>
              <a:rPr lang="es-ES" dirty="0"/>
              <a:t>- Otro tipo de estructura son los </a:t>
            </a:r>
            <a:r>
              <a:rPr lang="es-ES" b="1" dirty="0"/>
              <a:t>mapas</a:t>
            </a:r>
            <a:r>
              <a:rPr lang="es-ES" dirty="0"/>
              <a:t>, que son estructuras de clave/valor (por cada clave hay un valor)</a:t>
            </a:r>
          </a:p>
          <a:p>
            <a:pPr marL="0" indent="0">
              <a:buNone/>
            </a:pPr>
            <a:r>
              <a:rPr lang="es-ES" dirty="0"/>
              <a:t>- Para instanciarlos, englobamos el mapa entre corchetes y cada estructura de clave/valor entre sus propios corchetes.</a:t>
            </a:r>
          </a:p>
          <a:p>
            <a:pPr marL="0" indent="0">
              <a:buNone/>
            </a:pPr>
            <a:r>
              <a:rPr lang="es-ES" dirty="0"/>
              <a:t>- Podemos agregar nuevas entradas con </a:t>
            </a:r>
            <a:r>
              <a:rPr lang="es-ES" b="1" dirty="0"/>
              <a:t>set</a:t>
            </a:r>
            <a:r>
              <a:rPr lang="es-ES" dirty="0"/>
              <a:t> o buscar el valor de una clave con </a:t>
            </a:r>
            <a:r>
              <a:rPr lang="es-ES" b="1" dirty="0" err="1"/>
              <a:t>get</a:t>
            </a:r>
            <a:endParaRPr lang="es-ES" b="1"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0CBDC409-57FD-D75B-AA5A-406CCF12B22C}"/>
              </a:ext>
            </a:extLst>
          </p:cNvPr>
          <p:cNvPicPr>
            <a:picLocks noChangeAspect="1"/>
          </p:cNvPicPr>
          <p:nvPr/>
        </p:nvPicPr>
        <p:blipFill>
          <a:blip r:embed="rId2"/>
          <a:stretch>
            <a:fillRect/>
          </a:stretch>
        </p:blipFill>
        <p:spPr>
          <a:xfrm>
            <a:off x="5065834" y="939099"/>
            <a:ext cx="6974121" cy="4556632"/>
          </a:xfrm>
          <a:prstGeom prst="rect">
            <a:avLst/>
          </a:prstGeom>
        </p:spPr>
      </p:pic>
    </p:spTree>
    <p:extLst>
      <p:ext uri="{BB962C8B-B14F-4D97-AF65-F5344CB8AC3E}">
        <p14:creationId xmlns:p14="http://schemas.microsoft.com/office/powerpoint/2010/main" val="36844982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2.9 – </a:t>
            </a:r>
            <a:r>
              <a:rPr lang="es-ES" dirty="0" err="1"/>
              <a:t>Rest</a:t>
            </a:r>
            <a:r>
              <a:rPr lang="es-ES" dirty="0"/>
              <a:t> y Spread</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23007" y="814508"/>
            <a:ext cx="11145985" cy="4444664"/>
          </a:xfrm>
        </p:spPr>
        <p:txBody>
          <a:bodyPr>
            <a:normAutofit/>
          </a:bodyPr>
          <a:lstStyle/>
          <a:p>
            <a:pPr>
              <a:buFontTx/>
              <a:buChar char="-"/>
            </a:pPr>
            <a:r>
              <a:rPr lang="es-ES" dirty="0"/>
              <a:t>Permiten extraer a parámetros los elementos de un array o </a:t>
            </a:r>
            <a:r>
              <a:rPr lang="es-ES" dirty="0" err="1"/>
              <a:t>string</a:t>
            </a:r>
            <a:r>
              <a:rPr lang="es-ES" dirty="0"/>
              <a:t> (</a:t>
            </a:r>
            <a:r>
              <a:rPr lang="es-ES" b="1" dirty="0"/>
              <a:t>spread</a:t>
            </a:r>
            <a:r>
              <a:rPr lang="es-ES" dirty="0"/>
              <a:t>) o convertir en un array un grupo de parámetros (</a:t>
            </a:r>
            <a:r>
              <a:rPr lang="es-ES" b="1" dirty="0" err="1"/>
              <a:t>rest</a:t>
            </a:r>
            <a:r>
              <a:rPr lang="es-ES" dirty="0"/>
              <a:t>). El operador de ambos son los tres puntos (…)</a:t>
            </a:r>
          </a:p>
          <a:p>
            <a:pPr>
              <a:buFontTx/>
              <a:buChar char="-"/>
            </a:pPr>
            <a:r>
              <a:rPr lang="es-ES" dirty="0"/>
              <a:t>Para usar </a:t>
            </a:r>
            <a:r>
              <a:rPr lang="es-ES" b="1" dirty="0" err="1"/>
              <a:t>rest</a:t>
            </a:r>
            <a:r>
              <a:rPr lang="es-ES" dirty="0"/>
              <a:t> como parámetro de una función debe ser siempre colocado como último parámetro.</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325C8080-AF87-901B-FCB7-47CA3A701704}"/>
              </a:ext>
            </a:extLst>
          </p:cNvPr>
          <p:cNvPicPr>
            <a:picLocks noChangeAspect="1"/>
          </p:cNvPicPr>
          <p:nvPr/>
        </p:nvPicPr>
        <p:blipFill>
          <a:blip r:embed="rId2"/>
          <a:stretch>
            <a:fillRect/>
          </a:stretch>
        </p:blipFill>
        <p:spPr>
          <a:xfrm>
            <a:off x="1214318" y="2164703"/>
            <a:ext cx="10101583" cy="3676260"/>
          </a:xfrm>
          <a:prstGeom prst="rect">
            <a:avLst/>
          </a:prstGeom>
        </p:spPr>
      </p:pic>
    </p:spTree>
    <p:extLst>
      <p:ext uri="{BB962C8B-B14F-4D97-AF65-F5344CB8AC3E}">
        <p14:creationId xmlns:p14="http://schemas.microsoft.com/office/powerpoint/2010/main" val="26637096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2.9 – </a:t>
            </a:r>
            <a:r>
              <a:rPr lang="es-ES" dirty="0" err="1"/>
              <a:t>Rest</a:t>
            </a:r>
            <a:r>
              <a:rPr lang="es-ES" dirty="0"/>
              <a:t> y Spread</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23006" y="1122418"/>
            <a:ext cx="11145985" cy="4444664"/>
          </a:xfrm>
        </p:spPr>
        <p:txBody>
          <a:bodyPr>
            <a:normAutofit/>
          </a:bodyPr>
          <a:lstStyle/>
          <a:p>
            <a:pPr>
              <a:buFontTx/>
              <a:buChar char="-"/>
            </a:pPr>
            <a:r>
              <a:rPr lang="es-ES" dirty="0"/>
              <a:t>Si lo que queremos es convertir un array en un grupo de elementos, haremos spread.</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016B8116-2709-0CAD-62E1-E179C599CD1B}"/>
              </a:ext>
            </a:extLst>
          </p:cNvPr>
          <p:cNvPicPr>
            <a:picLocks noChangeAspect="1"/>
          </p:cNvPicPr>
          <p:nvPr/>
        </p:nvPicPr>
        <p:blipFill>
          <a:blip r:embed="rId2"/>
          <a:stretch>
            <a:fillRect/>
          </a:stretch>
        </p:blipFill>
        <p:spPr>
          <a:xfrm>
            <a:off x="375392" y="1846090"/>
            <a:ext cx="11441212" cy="2431996"/>
          </a:xfrm>
          <a:prstGeom prst="rect">
            <a:avLst/>
          </a:prstGeom>
        </p:spPr>
      </p:pic>
    </p:spTree>
    <p:extLst>
      <p:ext uri="{BB962C8B-B14F-4D97-AF65-F5344CB8AC3E}">
        <p14:creationId xmlns:p14="http://schemas.microsoft.com/office/powerpoint/2010/main" val="39214162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2.10 – Desestructuración de </a:t>
            </a:r>
            <a:r>
              <a:rPr lang="es-ES" dirty="0" err="1"/>
              <a:t>arrays</a:t>
            </a:r>
            <a:endParaRPr lang="es-ES" dirty="0"/>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23006" y="1122418"/>
            <a:ext cx="11145985" cy="4444664"/>
          </a:xfrm>
        </p:spPr>
        <p:txBody>
          <a:bodyPr>
            <a:normAutofit/>
          </a:bodyPr>
          <a:lstStyle/>
          <a:p>
            <a:pPr>
              <a:buFontTx/>
              <a:buChar char="-"/>
            </a:pPr>
            <a:r>
              <a:rPr lang="es-ES" dirty="0"/>
              <a:t>Podemos desestructurar </a:t>
            </a:r>
            <a:r>
              <a:rPr lang="es-ES" dirty="0" err="1"/>
              <a:t>arrays</a:t>
            </a:r>
            <a:r>
              <a:rPr lang="es-ES" dirty="0"/>
              <a:t> (al igual que objetos, como veremos en el futuro), que significa que podemos extraer elementos del array directamente a variables y viceversa</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a:buFontTx/>
              <a:buChar char="-"/>
            </a:pPr>
            <a:r>
              <a:rPr lang="es-ES" dirty="0"/>
              <a:t>También podemos asignar valores por defecto.</a:t>
            </a:r>
          </a:p>
          <a:p>
            <a:pPr>
              <a:buFontTx/>
              <a:buChar char="-"/>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6" name="Imagen 5">
            <a:extLst>
              <a:ext uri="{FF2B5EF4-FFF2-40B4-BE49-F238E27FC236}">
                <a16:creationId xmlns:a16="http://schemas.microsoft.com/office/drawing/2014/main" id="{BF32D603-4635-DBF2-8E89-FFFF2E875F8B}"/>
              </a:ext>
            </a:extLst>
          </p:cNvPr>
          <p:cNvPicPr>
            <a:picLocks noChangeAspect="1"/>
          </p:cNvPicPr>
          <p:nvPr/>
        </p:nvPicPr>
        <p:blipFill>
          <a:blip r:embed="rId2"/>
          <a:stretch>
            <a:fillRect/>
          </a:stretch>
        </p:blipFill>
        <p:spPr>
          <a:xfrm>
            <a:off x="1248917" y="1847462"/>
            <a:ext cx="9694161" cy="1978000"/>
          </a:xfrm>
          <a:prstGeom prst="rect">
            <a:avLst/>
          </a:prstGeom>
        </p:spPr>
      </p:pic>
      <p:pic>
        <p:nvPicPr>
          <p:cNvPr id="8" name="Imagen 7">
            <a:extLst>
              <a:ext uri="{FF2B5EF4-FFF2-40B4-BE49-F238E27FC236}">
                <a16:creationId xmlns:a16="http://schemas.microsoft.com/office/drawing/2014/main" id="{856D423E-B838-E916-14B7-1D86A30F33A1}"/>
              </a:ext>
            </a:extLst>
          </p:cNvPr>
          <p:cNvPicPr>
            <a:picLocks noChangeAspect="1"/>
          </p:cNvPicPr>
          <p:nvPr/>
        </p:nvPicPr>
        <p:blipFill>
          <a:blip r:embed="rId3"/>
          <a:stretch>
            <a:fillRect/>
          </a:stretch>
        </p:blipFill>
        <p:spPr>
          <a:xfrm>
            <a:off x="272434" y="4767297"/>
            <a:ext cx="11661516" cy="968285"/>
          </a:xfrm>
          <a:prstGeom prst="rect">
            <a:avLst/>
          </a:prstGeom>
        </p:spPr>
      </p:pic>
    </p:spTree>
    <p:extLst>
      <p:ext uri="{BB962C8B-B14F-4D97-AF65-F5344CB8AC3E}">
        <p14:creationId xmlns:p14="http://schemas.microsoft.com/office/powerpoint/2010/main" val="8880633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2.10 – Copia de </a:t>
            </a:r>
            <a:r>
              <a:rPr lang="es-ES" dirty="0" err="1"/>
              <a:t>arrays</a:t>
            </a:r>
            <a:endParaRPr lang="es-ES" dirty="0"/>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23006" y="1122418"/>
            <a:ext cx="11145985" cy="4444664"/>
          </a:xfrm>
        </p:spPr>
        <p:txBody>
          <a:bodyPr>
            <a:normAutofit/>
          </a:bodyPr>
          <a:lstStyle/>
          <a:p>
            <a:pPr>
              <a:buFontTx/>
              <a:buChar char="-"/>
            </a:pPr>
            <a:r>
              <a:rPr lang="es-ES" dirty="0"/>
              <a:t>Al copiar un array en otro, si queremos obtener una copia que sea independiente del array original tenemos que usar …, </a:t>
            </a:r>
            <a:r>
              <a:rPr lang="es-ES" dirty="0" err="1"/>
              <a:t>Object.assign</a:t>
            </a:r>
            <a:r>
              <a:rPr lang="es-ES" dirty="0"/>
              <a:t> (porque el array es un tipo de objeto), </a:t>
            </a:r>
            <a:r>
              <a:rPr lang="es-ES" dirty="0" err="1"/>
              <a:t>slice</a:t>
            </a:r>
            <a:r>
              <a:rPr lang="es-ES" dirty="0"/>
              <a:t> o </a:t>
            </a:r>
            <a:r>
              <a:rPr lang="es-ES" dirty="0" err="1"/>
              <a:t>Array.from</a:t>
            </a:r>
            <a:r>
              <a:rPr lang="es-ES" dirty="0"/>
              <a:t>. Si lo hacemos de la siguiente forma, cualquier cambio que afecte a la copia afectará al original.</a:t>
            </a:r>
          </a:p>
          <a:p>
            <a:pPr>
              <a:buFontTx/>
              <a:buChar char="-"/>
            </a:pPr>
            <a:endParaRPr lang="es-ES" dirty="0"/>
          </a:p>
          <a:p>
            <a:pPr marL="0" indent="0">
              <a:buNone/>
            </a:pPr>
            <a:endParaRPr lang="es-ES" dirty="0"/>
          </a:p>
          <a:p>
            <a:pPr>
              <a:buFontTx/>
              <a:buChar char="-"/>
            </a:pPr>
            <a:endParaRPr lang="es-ES" dirty="0"/>
          </a:p>
          <a:p>
            <a:pPr>
              <a:buFontTx/>
              <a:buChar char="-"/>
            </a:pPr>
            <a:endParaRPr lang="es-ES" dirty="0"/>
          </a:p>
          <a:p>
            <a:pPr>
              <a:buFontTx/>
              <a:buChar char="-"/>
            </a:pPr>
            <a:endParaRPr lang="es-ES" dirty="0"/>
          </a:p>
          <a:p>
            <a:pPr marL="0" indent="0">
              <a:buNone/>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pic>
        <p:nvPicPr>
          <p:cNvPr id="5" name="Imagen 4">
            <a:extLst>
              <a:ext uri="{FF2B5EF4-FFF2-40B4-BE49-F238E27FC236}">
                <a16:creationId xmlns:a16="http://schemas.microsoft.com/office/drawing/2014/main" id="{4CABB6BC-2293-99E0-74BF-EDC526A764C4}"/>
              </a:ext>
            </a:extLst>
          </p:cNvPr>
          <p:cNvPicPr>
            <a:picLocks noChangeAspect="1"/>
          </p:cNvPicPr>
          <p:nvPr/>
        </p:nvPicPr>
        <p:blipFill>
          <a:blip r:embed="rId2"/>
          <a:stretch>
            <a:fillRect/>
          </a:stretch>
        </p:blipFill>
        <p:spPr>
          <a:xfrm>
            <a:off x="523006" y="2948473"/>
            <a:ext cx="11434657" cy="1351772"/>
          </a:xfrm>
          <a:prstGeom prst="rect">
            <a:avLst/>
          </a:prstGeom>
        </p:spPr>
      </p:pic>
    </p:spTree>
    <p:extLst>
      <p:ext uri="{BB962C8B-B14F-4D97-AF65-F5344CB8AC3E}">
        <p14:creationId xmlns:p14="http://schemas.microsoft.com/office/powerpoint/2010/main" val="37483625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Ejercicios</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989045"/>
            <a:ext cx="11058420" cy="4777273"/>
          </a:xfrm>
        </p:spPr>
        <p:txBody>
          <a:bodyPr>
            <a:normAutofit/>
          </a:bodyPr>
          <a:lstStyle/>
          <a:p>
            <a:pPr>
              <a:buFontTx/>
              <a:buChar char="-"/>
            </a:pPr>
            <a:r>
              <a:rPr lang="es-ES" dirty="0"/>
              <a:t>Guarda en un array una lista de frutas con manzanas, peras, plátanos, kiwis, sandía y melón. Elimina las manzanas. Añade detrás del melón uvas y cerezas. Quita los kiwis y pon en su lugar piña y coco. Elimina finalmente la sandía. </a:t>
            </a:r>
          </a:p>
          <a:p>
            <a:pPr>
              <a:buFontTx/>
              <a:buChar char="-"/>
            </a:pPr>
            <a:r>
              <a:rPr lang="es-ES" dirty="0"/>
              <a:t>Haz una función que ordene las notas de un array pasado como parámetro. Si le pasamos [4,8,3,10,5] nos tiene que devolver [3,4,5,8,10]. Imprímelo por consola una vez hecho.</a:t>
            </a:r>
          </a:p>
          <a:p>
            <a:pPr>
              <a:buFontTx/>
              <a:buChar char="-"/>
            </a:pPr>
            <a:r>
              <a:rPr lang="es-ES" dirty="0"/>
              <a:t>Dado un array con los días de la semana, obtén todos los días que empiezan por la letra ‘M’. Hacerlo primero con un bucle </a:t>
            </a:r>
            <a:r>
              <a:rPr lang="es-ES" dirty="0" err="1"/>
              <a:t>for</a:t>
            </a:r>
            <a:r>
              <a:rPr lang="es-ES" dirty="0"/>
              <a:t> normal y después con programación funcional, en dos líneas de código, una para declarar el array y otra para resolver el problema.</a:t>
            </a:r>
          </a:p>
          <a:p>
            <a:pPr>
              <a:buFontTx/>
              <a:buChar char="-"/>
            </a:pPr>
            <a:r>
              <a:rPr lang="es-ES" dirty="0"/>
              <a:t>Dado el array anterior, obtener la posición en el array del primer día que empieza por M.</a:t>
            </a:r>
          </a:p>
          <a:p>
            <a:pPr>
              <a:buFontTx/>
              <a:buChar char="-"/>
            </a:pPr>
            <a:r>
              <a:rPr lang="es-ES" dirty="0"/>
              <a:t>Dado el mismo array, indicar si algún día empieza por la letra ‘S’ y si todos los días acaban por la letra ‘s’</a:t>
            </a:r>
          </a:p>
          <a:p>
            <a:pPr>
              <a:buFontTx/>
              <a:buChar char="-"/>
            </a:pPr>
            <a:r>
              <a:rPr lang="es-ES" dirty="0"/>
              <a:t>Con el mismo array, crea un array con los mismos días pero con todas las letras en mayúsculas</a:t>
            </a:r>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1976369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04BF2-DD76-58A0-DF92-971EBC5EF7CF}"/>
              </a:ext>
            </a:extLst>
          </p:cNvPr>
          <p:cNvSpPr>
            <a:spLocks noGrp="1"/>
          </p:cNvSpPr>
          <p:nvPr>
            <p:ph type="title"/>
          </p:nvPr>
        </p:nvSpPr>
        <p:spPr/>
        <p:txBody>
          <a:bodyPr>
            <a:normAutofit fontScale="90000"/>
          </a:bodyPr>
          <a:lstStyle/>
          <a:p>
            <a:r>
              <a:rPr lang="es-ES" dirty="0"/>
              <a:t>Ejercicios</a:t>
            </a:r>
          </a:p>
        </p:txBody>
      </p:sp>
      <p:sp>
        <p:nvSpPr>
          <p:cNvPr id="3" name="Marcador de contenido 2">
            <a:extLst>
              <a:ext uri="{FF2B5EF4-FFF2-40B4-BE49-F238E27FC236}">
                <a16:creationId xmlns:a16="http://schemas.microsoft.com/office/drawing/2014/main" id="{7238B170-710A-72A9-0902-8AD981ECF44B}"/>
              </a:ext>
            </a:extLst>
          </p:cNvPr>
          <p:cNvSpPr>
            <a:spLocks noGrp="1"/>
          </p:cNvSpPr>
          <p:nvPr>
            <p:ph idx="1"/>
          </p:nvPr>
        </p:nvSpPr>
        <p:spPr>
          <a:xfrm>
            <a:off x="530200" y="989045"/>
            <a:ext cx="11058420" cy="4777273"/>
          </a:xfrm>
        </p:spPr>
        <p:txBody>
          <a:bodyPr>
            <a:normAutofit fontScale="85000" lnSpcReduction="20000"/>
          </a:bodyPr>
          <a:lstStyle/>
          <a:p>
            <a:pPr>
              <a:buFontTx/>
              <a:buChar char="-"/>
            </a:pPr>
            <a:r>
              <a:rPr lang="es-ES" dirty="0"/>
              <a:t>Dado el array de notas </a:t>
            </a:r>
            <a:r>
              <a:rPr lang="fr-FR" b="0" dirty="0">
                <a:solidFill>
                  <a:srgbClr val="000000"/>
                </a:solidFill>
                <a:effectLst/>
                <a:highlight>
                  <a:srgbClr val="FFFFFF"/>
                </a:highlight>
                <a:latin typeface="Consolas" panose="020B0609020204030204" pitchFamily="49" charset="0"/>
              </a:rPr>
              <a:t>[</a:t>
            </a:r>
            <a:r>
              <a:rPr lang="fr-FR" b="0" dirty="0">
                <a:solidFill>
                  <a:srgbClr val="098658"/>
                </a:solidFill>
                <a:effectLst/>
                <a:highlight>
                  <a:srgbClr val="FFFFFF"/>
                </a:highlight>
                <a:latin typeface="Consolas" panose="020B0609020204030204" pitchFamily="49" charset="0"/>
              </a:rPr>
              <a:t>5.2</a:t>
            </a:r>
            <a:r>
              <a:rPr lang="fr-FR" b="0" dirty="0">
                <a:solidFill>
                  <a:srgbClr val="222222"/>
                </a:solidFill>
                <a:effectLst/>
                <a:highlight>
                  <a:srgbClr val="FFFFFF"/>
                </a:highlight>
                <a:latin typeface="Consolas" panose="020B0609020204030204" pitchFamily="49" charset="0"/>
              </a:rPr>
              <a:t>,</a:t>
            </a:r>
            <a:r>
              <a:rPr lang="fr-FR" b="0" dirty="0">
                <a:solidFill>
                  <a:srgbClr val="000000"/>
                </a:solidFill>
                <a:effectLst/>
                <a:highlight>
                  <a:srgbClr val="FFFFFF"/>
                </a:highlight>
                <a:latin typeface="Consolas" panose="020B0609020204030204" pitchFamily="49" charset="0"/>
              </a:rPr>
              <a:t> </a:t>
            </a:r>
            <a:r>
              <a:rPr lang="fr-FR" b="0" dirty="0">
                <a:solidFill>
                  <a:srgbClr val="098658"/>
                </a:solidFill>
                <a:effectLst/>
                <a:highlight>
                  <a:srgbClr val="FFFFFF"/>
                </a:highlight>
                <a:latin typeface="Consolas" panose="020B0609020204030204" pitchFamily="49" charset="0"/>
              </a:rPr>
              <a:t>3.9</a:t>
            </a:r>
            <a:r>
              <a:rPr lang="fr-FR" b="0" dirty="0">
                <a:solidFill>
                  <a:srgbClr val="222222"/>
                </a:solidFill>
                <a:effectLst/>
                <a:highlight>
                  <a:srgbClr val="FFFFFF"/>
                </a:highlight>
                <a:latin typeface="Consolas" panose="020B0609020204030204" pitchFamily="49" charset="0"/>
              </a:rPr>
              <a:t>,</a:t>
            </a:r>
            <a:r>
              <a:rPr lang="fr-FR" b="0" dirty="0">
                <a:solidFill>
                  <a:srgbClr val="000000"/>
                </a:solidFill>
                <a:effectLst/>
                <a:highlight>
                  <a:srgbClr val="FFFFFF"/>
                </a:highlight>
                <a:latin typeface="Consolas" panose="020B0609020204030204" pitchFamily="49" charset="0"/>
              </a:rPr>
              <a:t> </a:t>
            </a:r>
            <a:r>
              <a:rPr lang="fr-FR" b="0" dirty="0">
                <a:solidFill>
                  <a:srgbClr val="098658"/>
                </a:solidFill>
                <a:effectLst/>
                <a:highlight>
                  <a:srgbClr val="FFFFFF"/>
                </a:highlight>
                <a:latin typeface="Consolas" panose="020B0609020204030204" pitchFamily="49" charset="0"/>
              </a:rPr>
              <a:t>6</a:t>
            </a:r>
            <a:r>
              <a:rPr lang="fr-FR" b="0" dirty="0">
                <a:solidFill>
                  <a:srgbClr val="222222"/>
                </a:solidFill>
                <a:effectLst/>
                <a:highlight>
                  <a:srgbClr val="FFFFFF"/>
                </a:highlight>
                <a:latin typeface="Consolas" panose="020B0609020204030204" pitchFamily="49" charset="0"/>
              </a:rPr>
              <a:t>,</a:t>
            </a:r>
            <a:r>
              <a:rPr lang="fr-FR" b="0" dirty="0">
                <a:solidFill>
                  <a:srgbClr val="000000"/>
                </a:solidFill>
                <a:effectLst/>
                <a:highlight>
                  <a:srgbClr val="FFFFFF"/>
                </a:highlight>
                <a:latin typeface="Consolas" panose="020B0609020204030204" pitchFamily="49" charset="0"/>
              </a:rPr>
              <a:t> </a:t>
            </a:r>
            <a:r>
              <a:rPr lang="fr-FR" b="0" dirty="0">
                <a:solidFill>
                  <a:srgbClr val="098658"/>
                </a:solidFill>
                <a:effectLst/>
                <a:highlight>
                  <a:srgbClr val="FFFFFF"/>
                </a:highlight>
                <a:latin typeface="Consolas" panose="020B0609020204030204" pitchFamily="49" charset="0"/>
              </a:rPr>
              <a:t>9.75</a:t>
            </a:r>
            <a:r>
              <a:rPr lang="fr-FR" b="0" dirty="0">
                <a:solidFill>
                  <a:srgbClr val="222222"/>
                </a:solidFill>
                <a:effectLst/>
                <a:highlight>
                  <a:srgbClr val="FFFFFF"/>
                </a:highlight>
                <a:latin typeface="Consolas" panose="020B0609020204030204" pitchFamily="49" charset="0"/>
              </a:rPr>
              <a:t>,</a:t>
            </a:r>
            <a:r>
              <a:rPr lang="fr-FR" b="0" dirty="0">
                <a:solidFill>
                  <a:srgbClr val="000000"/>
                </a:solidFill>
                <a:effectLst/>
                <a:highlight>
                  <a:srgbClr val="FFFFFF"/>
                </a:highlight>
                <a:latin typeface="Consolas" panose="020B0609020204030204" pitchFamily="49" charset="0"/>
              </a:rPr>
              <a:t> </a:t>
            </a:r>
            <a:r>
              <a:rPr lang="fr-FR" b="0" dirty="0">
                <a:solidFill>
                  <a:srgbClr val="098658"/>
                </a:solidFill>
                <a:effectLst/>
                <a:highlight>
                  <a:srgbClr val="FFFFFF"/>
                </a:highlight>
                <a:latin typeface="Consolas" panose="020B0609020204030204" pitchFamily="49" charset="0"/>
              </a:rPr>
              <a:t>7.5</a:t>
            </a:r>
            <a:r>
              <a:rPr lang="fr-FR" b="0" dirty="0">
                <a:solidFill>
                  <a:srgbClr val="222222"/>
                </a:solidFill>
                <a:effectLst/>
                <a:highlight>
                  <a:srgbClr val="FFFFFF"/>
                </a:highlight>
                <a:latin typeface="Consolas" panose="020B0609020204030204" pitchFamily="49" charset="0"/>
              </a:rPr>
              <a:t>,</a:t>
            </a:r>
            <a:r>
              <a:rPr lang="fr-FR" b="0" dirty="0">
                <a:solidFill>
                  <a:srgbClr val="000000"/>
                </a:solidFill>
                <a:effectLst/>
                <a:highlight>
                  <a:srgbClr val="FFFFFF"/>
                </a:highlight>
                <a:latin typeface="Consolas" panose="020B0609020204030204" pitchFamily="49" charset="0"/>
              </a:rPr>
              <a:t> </a:t>
            </a:r>
            <a:r>
              <a:rPr lang="fr-FR" b="0" dirty="0">
                <a:solidFill>
                  <a:srgbClr val="098658"/>
                </a:solidFill>
                <a:effectLst/>
                <a:highlight>
                  <a:srgbClr val="FFFFFF"/>
                </a:highlight>
                <a:latin typeface="Consolas" panose="020B0609020204030204" pitchFamily="49" charset="0"/>
              </a:rPr>
              <a:t>3</a:t>
            </a:r>
            <a:r>
              <a:rPr lang="fr-FR" b="0" dirty="0">
                <a:solidFill>
                  <a:srgbClr val="000000"/>
                </a:solidFill>
                <a:effectLst/>
                <a:highlight>
                  <a:srgbClr val="FFFFFF"/>
                </a:highlight>
                <a:latin typeface="Consolas" panose="020B0609020204030204" pitchFamily="49" charset="0"/>
              </a:rPr>
              <a:t>] ,</a:t>
            </a:r>
            <a:r>
              <a:rPr lang="fr-FR" dirty="0" err="1">
                <a:solidFill>
                  <a:srgbClr val="222222"/>
                </a:solidFill>
                <a:highlight>
                  <a:srgbClr val="FFFFFF"/>
                </a:highlight>
                <a:latin typeface="Consolas" panose="020B0609020204030204" pitchFamily="49" charset="0"/>
              </a:rPr>
              <a:t>devolver</a:t>
            </a:r>
            <a:r>
              <a:rPr lang="fr-FR" dirty="0">
                <a:solidFill>
                  <a:srgbClr val="222222"/>
                </a:solidFill>
                <a:highlight>
                  <a:srgbClr val="FFFFFF"/>
                </a:highlight>
                <a:latin typeface="Consolas" panose="020B0609020204030204" pitchFamily="49" charset="0"/>
              </a:rPr>
              <a:t> la nota media.</a:t>
            </a:r>
          </a:p>
          <a:p>
            <a:pPr>
              <a:buFontTx/>
              <a:buChar char="-"/>
            </a:pPr>
            <a:endParaRPr lang="fr-FR" b="0" dirty="0">
              <a:solidFill>
                <a:srgbClr val="222222"/>
              </a:solidFill>
              <a:effectLst/>
              <a:highlight>
                <a:srgbClr val="FFFFFF"/>
              </a:highlight>
              <a:latin typeface="Consolas" panose="020B0609020204030204" pitchFamily="49" charset="0"/>
            </a:endParaRPr>
          </a:p>
          <a:p>
            <a:pPr>
              <a:buFontTx/>
              <a:buChar char="-"/>
            </a:pPr>
            <a:r>
              <a:rPr lang="fr-FR" dirty="0" err="1">
                <a:solidFill>
                  <a:srgbClr val="222222"/>
                </a:solidFill>
                <a:highlight>
                  <a:srgbClr val="FFFFFF"/>
                </a:highlight>
                <a:latin typeface="Consolas" panose="020B0609020204030204" pitchFamily="49" charset="0"/>
              </a:rPr>
              <a:t>Ejercicios</a:t>
            </a:r>
            <a:r>
              <a:rPr lang="fr-FR" dirty="0">
                <a:solidFill>
                  <a:srgbClr val="222222"/>
                </a:solidFill>
                <a:highlight>
                  <a:srgbClr val="FFFFFF"/>
                </a:highlight>
                <a:latin typeface="Consolas" panose="020B0609020204030204" pitchFamily="49" charset="0"/>
              </a:rPr>
              <a:t> de </a:t>
            </a:r>
            <a:r>
              <a:rPr lang="fr-FR" dirty="0" err="1">
                <a:solidFill>
                  <a:srgbClr val="222222"/>
                </a:solidFill>
                <a:highlight>
                  <a:srgbClr val="FFFFFF"/>
                </a:highlight>
                <a:latin typeface="Consolas" panose="020B0609020204030204" pitchFamily="49" charset="0"/>
              </a:rPr>
              <a:t>funciones</a:t>
            </a:r>
            <a:r>
              <a:rPr lang="fr-FR" dirty="0">
                <a:solidFill>
                  <a:srgbClr val="222222"/>
                </a:solidFill>
                <a:highlight>
                  <a:srgbClr val="FFFFFF"/>
                </a:highlight>
                <a:latin typeface="Consolas" panose="020B0609020204030204" pitchFamily="49" charset="0"/>
              </a:rPr>
              <a:t>:</a:t>
            </a:r>
          </a:p>
          <a:p>
            <a:pPr marL="0" indent="0">
              <a:buNone/>
            </a:pPr>
            <a:r>
              <a:rPr lang="fr-FR" b="0" dirty="0">
                <a:solidFill>
                  <a:srgbClr val="000000"/>
                </a:solidFill>
                <a:effectLst/>
                <a:highlight>
                  <a:srgbClr val="FFFFFF"/>
                </a:highlight>
                <a:latin typeface="Consolas" panose="020B0609020204030204" pitchFamily="49" charset="0"/>
              </a:rPr>
              <a:t>1- </a:t>
            </a:r>
            <a:r>
              <a:rPr lang="fr-FR" b="0" dirty="0" err="1">
                <a:solidFill>
                  <a:srgbClr val="000000"/>
                </a:solidFill>
                <a:effectLst/>
                <a:highlight>
                  <a:srgbClr val="FFFFFF"/>
                </a:highlight>
                <a:latin typeface="Consolas" panose="020B0609020204030204" pitchFamily="49" charset="0"/>
              </a:rPr>
              <a:t>Crea</a:t>
            </a:r>
            <a:r>
              <a:rPr lang="fr-FR" b="0" dirty="0">
                <a:solidFill>
                  <a:srgbClr val="000000"/>
                </a:solidFill>
                <a:effectLst/>
                <a:highlight>
                  <a:srgbClr val="FFFFFF"/>
                </a:highlight>
                <a:latin typeface="Consolas" panose="020B0609020204030204" pitchFamily="49" charset="0"/>
              </a:rPr>
              <a:t> </a:t>
            </a:r>
            <a:r>
              <a:rPr lang="fr-FR" b="0" dirty="0" err="1">
                <a:solidFill>
                  <a:srgbClr val="000000"/>
                </a:solidFill>
                <a:effectLst/>
                <a:highlight>
                  <a:srgbClr val="FFFFFF"/>
                </a:highlight>
                <a:latin typeface="Consolas" panose="020B0609020204030204" pitchFamily="49" charset="0"/>
              </a:rPr>
              <a:t>una</a:t>
            </a:r>
            <a:r>
              <a:rPr lang="fr-FR" b="0" dirty="0">
                <a:solidFill>
                  <a:srgbClr val="000000"/>
                </a:solidFill>
                <a:effectLst/>
                <a:highlight>
                  <a:srgbClr val="FFFFFF"/>
                </a:highlight>
                <a:latin typeface="Consolas" panose="020B0609020204030204" pitchFamily="49" charset="0"/>
              </a:rPr>
              <a:t> </a:t>
            </a:r>
            <a:r>
              <a:rPr lang="fr-FR" b="0" dirty="0" err="1">
                <a:solidFill>
                  <a:srgbClr val="000000"/>
                </a:solidFill>
                <a:effectLst/>
                <a:highlight>
                  <a:srgbClr val="FFFFFF"/>
                </a:highlight>
                <a:latin typeface="Consolas" panose="020B0609020204030204" pitchFamily="49" charset="0"/>
              </a:rPr>
              <a:t>función</a:t>
            </a:r>
            <a:r>
              <a:rPr lang="fr-FR" b="0" dirty="0">
                <a:solidFill>
                  <a:srgbClr val="000000"/>
                </a:solidFill>
                <a:effectLst/>
                <a:highlight>
                  <a:srgbClr val="FFFFFF"/>
                </a:highlight>
                <a:latin typeface="Consolas" panose="020B0609020204030204" pitchFamily="49" charset="0"/>
              </a:rPr>
              <a:t> </a:t>
            </a:r>
            <a:r>
              <a:rPr lang="fr-FR" b="0" dirty="0" err="1">
                <a:solidFill>
                  <a:srgbClr val="000000"/>
                </a:solidFill>
                <a:effectLst/>
                <a:highlight>
                  <a:srgbClr val="FFFFFF"/>
                </a:highlight>
                <a:latin typeface="Consolas" panose="020B0609020204030204" pitchFamily="49" charset="0"/>
              </a:rPr>
              <a:t>declarada</a:t>
            </a:r>
            <a:r>
              <a:rPr lang="fr-FR" b="0" dirty="0">
                <a:solidFill>
                  <a:srgbClr val="000000"/>
                </a:solidFill>
                <a:effectLst/>
                <a:highlight>
                  <a:srgbClr val="FFFFFF"/>
                </a:highlight>
                <a:latin typeface="Consolas" panose="020B0609020204030204" pitchFamily="49" charset="0"/>
              </a:rPr>
              <a:t> </a:t>
            </a:r>
            <a:r>
              <a:rPr lang="fr-FR" b="0" dirty="0" err="1">
                <a:solidFill>
                  <a:srgbClr val="000000"/>
                </a:solidFill>
                <a:effectLst/>
                <a:highlight>
                  <a:srgbClr val="FFFFFF"/>
                </a:highlight>
                <a:latin typeface="Consolas" panose="020B0609020204030204" pitchFamily="49" charset="0"/>
              </a:rPr>
              <a:t>llamada</a:t>
            </a:r>
            <a:r>
              <a:rPr lang="fr-FR" b="0" dirty="0">
                <a:solidFill>
                  <a:srgbClr val="000000"/>
                </a:solidFill>
                <a:effectLst/>
                <a:highlight>
                  <a:srgbClr val="FFFFFF"/>
                </a:highlight>
                <a:latin typeface="Consolas" panose="020B0609020204030204" pitchFamily="49" charset="0"/>
              </a:rPr>
              <a:t> </a:t>
            </a:r>
            <a:r>
              <a:rPr lang="fr-FR" b="0" dirty="0" err="1">
                <a:solidFill>
                  <a:srgbClr val="000000"/>
                </a:solidFill>
                <a:effectLst/>
                <a:highlight>
                  <a:srgbClr val="FFFFFF"/>
                </a:highlight>
                <a:latin typeface="Consolas" panose="020B0609020204030204" pitchFamily="49" charset="0"/>
              </a:rPr>
              <a:t>saludarJedi</a:t>
            </a:r>
            <a:r>
              <a:rPr lang="fr-FR" b="0" dirty="0">
                <a:solidFill>
                  <a:srgbClr val="000000"/>
                </a:solidFill>
                <a:effectLst/>
                <a:highlight>
                  <a:srgbClr val="FFFFFF"/>
                </a:highlight>
                <a:latin typeface="Consolas" panose="020B0609020204030204" pitchFamily="49" charset="0"/>
              </a:rPr>
              <a:t> que </a:t>
            </a:r>
            <a:r>
              <a:rPr lang="fr-FR" b="0" dirty="0" err="1">
                <a:solidFill>
                  <a:srgbClr val="000000"/>
                </a:solidFill>
                <a:effectLst/>
                <a:highlight>
                  <a:srgbClr val="FFFFFF"/>
                </a:highlight>
                <a:latin typeface="Consolas" panose="020B0609020204030204" pitchFamily="49" charset="0"/>
              </a:rPr>
              <a:t>reciba</a:t>
            </a:r>
            <a:r>
              <a:rPr lang="fr-FR" b="0" dirty="0">
                <a:solidFill>
                  <a:srgbClr val="000000"/>
                </a:solidFill>
                <a:effectLst/>
                <a:highlight>
                  <a:srgbClr val="FFFFFF"/>
                </a:highlight>
                <a:latin typeface="Consolas" panose="020B0609020204030204" pitchFamily="49" charset="0"/>
              </a:rPr>
              <a:t> un nombre y </a:t>
            </a:r>
            <a:r>
              <a:rPr lang="fr-FR" b="0" dirty="0" err="1">
                <a:solidFill>
                  <a:srgbClr val="000000"/>
                </a:solidFill>
                <a:effectLst/>
                <a:highlight>
                  <a:srgbClr val="FFFFFF"/>
                </a:highlight>
                <a:latin typeface="Consolas" panose="020B0609020204030204" pitchFamily="49" charset="0"/>
              </a:rPr>
              <a:t>devuelva</a:t>
            </a:r>
            <a:r>
              <a:rPr lang="fr-FR" b="0" dirty="0">
                <a:solidFill>
                  <a:srgbClr val="000000"/>
                </a:solidFill>
                <a:effectLst/>
                <a:highlight>
                  <a:srgbClr val="FFFFFF"/>
                </a:highlight>
                <a:latin typeface="Consolas" panose="020B0609020204030204" pitchFamily="49" charset="0"/>
              </a:rPr>
              <a:t>: « Que la </a:t>
            </a:r>
            <a:r>
              <a:rPr lang="fr-FR" b="0" dirty="0" err="1">
                <a:solidFill>
                  <a:srgbClr val="000000"/>
                </a:solidFill>
                <a:effectLst/>
                <a:highlight>
                  <a:srgbClr val="FFFFFF"/>
                </a:highlight>
                <a:latin typeface="Consolas" panose="020B0609020204030204" pitchFamily="49" charset="0"/>
              </a:rPr>
              <a:t>Fuerza</a:t>
            </a:r>
            <a:r>
              <a:rPr lang="fr-FR" b="0" dirty="0">
                <a:solidFill>
                  <a:srgbClr val="000000"/>
                </a:solidFill>
                <a:effectLst/>
                <a:highlight>
                  <a:srgbClr val="FFFFFF"/>
                </a:highlight>
                <a:latin typeface="Consolas" panose="020B0609020204030204" pitchFamily="49" charset="0"/>
              </a:rPr>
              <a:t> te </a:t>
            </a:r>
            <a:r>
              <a:rPr lang="fr-FR" b="0" dirty="0" err="1">
                <a:solidFill>
                  <a:srgbClr val="000000"/>
                </a:solidFill>
                <a:effectLst/>
                <a:highlight>
                  <a:srgbClr val="FFFFFF"/>
                </a:highlight>
                <a:latin typeface="Consolas" panose="020B0609020204030204" pitchFamily="49" charset="0"/>
              </a:rPr>
              <a:t>acompañe</a:t>
            </a:r>
            <a:r>
              <a:rPr lang="fr-FR" b="0" dirty="0">
                <a:solidFill>
                  <a:srgbClr val="000000"/>
                </a:solidFill>
                <a:effectLst/>
                <a:highlight>
                  <a:srgbClr val="FFFFFF"/>
                </a:highlight>
                <a:latin typeface="Consolas" panose="020B0609020204030204" pitchFamily="49" charset="0"/>
              </a:rPr>
              <a:t>, nombre »</a:t>
            </a:r>
          </a:p>
          <a:p>
            <a:pPr marL="0" indent="0">
              <a:buNone/>
            </a:pPr>
            <a:r>
              <a:rPr lang="fr-FR" dirty="0">
                <a:solidFill>
                  <a:srgbClr val="000000"/>
                </a:solidFill>
                <a:highlight>
                  <a:srgbClr val="FFFFFF"/>
                </a:highlight>
                <a:latin typeface="Consolas" panose="020B0609020204030204" pitchFamily="49" charset="0"/>
              </a:rPr>
              <a:t>Reto extra: Si no se </a:t>
            </a:r>
            <a:r>
              <a:rPr lang="fr-FR" dirty="0" err="1">
                <a:solidFill>
                  <a:srgbClr val="000000"/>
                </a:solidFill>
                <a:highlight>
                  <a:srgbClr val="FFFFFF"/>
                </a:highlight>
                <a:latin typeface="Consolas" panose="020B0609020204030204" pitchFamily="49" charset="0"/>
              </a:rPr>
              <a:t>pasa</a:t>
            </a:r>
            <a:r>
              <a:rPr lang="fr-FR" dirty="0">
                <a:solidFill>
                  <a:srgbClr val="000000"/>
                </a:solidFill>
                <a:highlight>
                  <a:srgbClr val="FFFFFF"/>
                </a:highlight>
                <a:latin typeface="Consolas" panose="020B0609020204030204" pitchFamily="49" charset="0"/>
              </a:rPr>
              <a:t> un nombre </a:t>
            </a:r>
            <a:r>
              <a:rPr lang="fr-FR" dirty="0" err="1">
                <a:solidFill>
                  <a:srgbClr val="000000"/>
                </a:solidFill>
                <a:highlight>
                  <a:srgbClr val="FFFFFF"/>
                </a:highlight>
                <a:latin typeface="Consolas" panose="020B0609020204030204" pitchFamily="49" charset="0"/>
              </a:rPr>
              <a:t>como</a:t>
            </a:r>
            <a:r>
              <a:rPr lang="fr-FR" dirty="0">
                <a:solidFill>
                  <a:srgbClr val="000000"/>
                </a:solidFill>
                <a:highlight>
                  <a:srgbClr val="FFFFFF"/>
                </a:highlight>
                <a:latin typeface="Consolas" panose="020B0609020204030204" pitchFamily="49" charset="0"/>
              </a:rPr>
              <a:t> </a:t>
            </a:r>
            <a:r>
              <a:rPr lang="fr-FR" dirty="0" err="1">
                <a:solidFill>
                  <a:srgbClr val="000000"/>
                </a:solidFill>
                <a:highlight>
                  <a:srgbClr val="FFFFFF"/>
                </a:highlight>
                <a:latin typeface="Consolas" panose="020B0609020204030204" pitchFamily="49" charset="0"/>
              </a:rPr>
              <a:t>argumento</a:t>
            </a:r>
            <a:r>
              <a:rPr lang="fr-FR" dirty="0">
                <a:solidFill>
                  <a:srgbClr val="000000"/>
                </a:solidFill>
                <a:highlight>
                  <a:srgbClr val="FFFFFF"/>
                </a:highlight>
                <a:latin typeface="Consolas" panose="020B0609020204030204" pitchFamily="49" charset="0"/>
              </a:rPr>
              <a:t>, </a:t>
            </a:r>
            <a:r>
              <a:rPr lang="fr-FR" dirty="0" err="1">
                <a:solidFill>
                  <a:srgbClr val="000000"/>
                </a:solidFill>
                <a:highlight>
                  <a:srgbClr val="FFFFFF"/>
                </a:highlight>
                <a:latin typeface="Consolas" panose="020B0609020204030204" pitchFamily="49" charset="0"/>
              </a:rPr>
              <a:t>devolver</a:t>
            </a:r>
            <a:r>
              <a:rPr lang="fr-FR" dirty="0">
                <a:solidFill>
                  <a:srgbClr val="000000"/>
                </a:solidFill>
                <a:highlight>
                  <a:srgbClr val="FFFFFF"/>
                </a:highlight>
                <a:latin typeface="Consolas" panose="020B0609020204030204" pitchFamily="49" charset="0"/>
              </a:rPr>
              <a:t> « </a:t>
            </a:r>
            <a:r>
              <a:rPr lang="fr-FR" dirty="0" err="1">
                <a:solidFill>
                  <a:srgbClr val="000000"/>
                </a:solidFill>
                <a:highlight>
                  <a:srgbClr val="FFFFFF"/>
                </a:highlight>
                <a:latin typeface="Consolas" panose="020B0609020204030204" pitchFamily="49" charset="0"/>
              </a:rPr>
              <a:t>joven</a:t>
            </a:r>
            <a:r>
              <a:rPr lang="fr-FR" dirty="0">
                <a:solidFill>
                  <a:srgbClr val="000000"/>
                </a:solidFill>
                <a:highlight>
                  <a:srgbClr val="FFFFFF"/>
                </a:highlight>
                <a:latin typeface="Consolas" panose="020B0609020204030204" pitchFamily="49" charset="0"/>
              </a:rPr>
              <a:t> padawan »</a:t>
            </a:r>
          </a:p>
          <a:p>
            <a:pPr marL="0" indent="0">
              <a:buNone/>
            </a:pPr>
            <a:endParaRPr lang="fr-FR" b="0" dirty="0">
              <a:solidFill>
                <a:srgbClr val="000000"/>
              </a:solidFill>
              <a:effectLst/>
              <a:highlight>
                <a:srgbClr val="FFFFFF"/>
              </a:highlight>
              <a:latin typeface="Consolas" panose="020B0609020204030204" pitchFamily="49" charset="0"/>
            </a:endParaRPr>
          </a:p>
          <a:p>
            <a:pPr marL="0" indent="0">
              <a:buNone/>
            </a:pPr>
            <a:r>
              <a:rPr lang="fr-FR" dirty="0">
                <a:solidFill>
                  <a:srgbClr val="000000"/>
                </a:solidFill>
                <a:highlight>
                  <a:srgbClr val="FFFFFF"/>
                </a:highlight>
                <a:latin typeface="Consolas" panose="020B0609020204030204" pitchFamily="49" charset="0"/>
              </a:rPr>
              <a:t>2- Transforma la </a:t>
            </a:r>
            <a:r>
              <a:rPr lang="fr-FR" dirty="0" err="1">
                <a:solidFill>
                  <a:srgbClr val="000000"/>
                </a:solidFill>
                <a:highlight>
                  <a:srgbClr val="FFFFFF"/>
                </a:highlight>
                <a:latin typeface="Consolas" panose="020B0609020204030204" pitchFamily="49" charset="0"/>
              </a:rPr>
              <a:t>siguiente</a:t>
            </a:r>
            <a:r>
              <a:rPr lang="fr-FR" dirty="0">
                <a:solidFill>
                  <a:srgbClr val="000000"/>
                </a:solidFill>
                <a:highlight>
                  <a:srgbClr val="FFFFFF"/>
                </a:highlight>
                <a:latin typeface="Consolas" panose="020B0609020204030204" pitchFamily="49" charset="0"/>
              </a:rPr>
              <a:t> </a:t>
            </a:r>
            <a:r>
              <a:rPr lang="fr-FR" dirty="0" err="1">
                <a:solidFill>
                  <a:srgbClr val="000000"/>
                </a:solidFill>
                <a:highlight>
                  <a:srgbClr val="FFFFFF"/>
                </a:highlight>
                <a:latin typeface="Consolas" panose="020B0609020204030204" pitchFamily="49" charset="0"/>
              </a:rPr>
              <a:t>función</a:t>
            </a:r>
            <a:r>
              <a:rPr lang="fr-FR" dirty="0">
                <a:solidFill>
                  <a:srgbClr val="000000"/>
                </a:solidFill>
                <a:highlight>
                  <a:srgbClr val="FFFFFF"/>
                </a:highlight>
                <a:latin typeface="Consolas" panose="020B0609020204030204" pitchFamily="49" charset="0"/>
              </a:rPr>
              <a:t> normal en </a:t>
            </a:r>
            <a:r>
              <a:rPr lang="fr-FR" dirty="0" err="1">
                <a:solidFill>
                  <a:srgbClr val="000000"/>
                </a:solidFill>
                <a:highlight>
                  <a:srgbClr val="FFFFFF"/>
                </a:highlight>
                <a:latin typeface="Consolas" panose="020B0609020204030204" pitchFamily="49" charset="0"/>
              </a:rPr>
              <a:t>una</a:t>
            </a:r>
            <a:r>
              <a:rPr lang="fr-FR" dirty="0">
                <a:solidFill>
                  <a:srgbClr val="000000"/>
                </a:solidFill>
                <a:highlight>
                  <a:srgbClr val="FFFFFF"/>
                </a:highlight>
                <a:latin typeface="Consolas" panose="020B0609020204030204" pitchFamily="49" charset="0"/>
              </a:rPr>
              <a:t> </a:t>
            </a:r>
            <a:r>
              <a:rPr lang="fr-FR" dirty="0" err="1">
                <a:solidFill>
                  <a:srgbClr val="000000"/>
                </a:solidFill>
                <a:highlight>
                  <a:srgbClr val="FFFFFF"/>
                </a:highlight>
                <a:latin typeface="Consolas" panose="020B0609020204030204" pitchFamily="49" charset="0"/>
              </a:rPr>
              <a:t>función</a:t>
            </a:r>
            <a:r>
              <a:rPr lang="fr-FR" dirty="0">
                <a:solidFill>
                  <a:srgbClr val="000000"/>
                </a:solidFill>
                <a:highlight>
                  <a:srgbClr val="FFFFFF"/>
                </a:highlight>
                <a:latin typeface="Consolas" panose="020B0609020204030204" pitchFamily="49" charset="0"/>
              </a:rPr>
              <a:t> </a:t>
            </a:r>
            <a:r>
              <a:rPr lang="fr-FR" dirty="0" err="1">
                <a:solidFill>
                  <a:srgbClr val="000000"/>
                </a:solidFill>
                <a:highlight>
                  <a:srgbClr val="FFFFFF"/>
                </a:highlight>
                <a:latin typeface="Consolas" panose="020B0609020204030204" pitchFamily="49" charset="0"/>
              </a:rPr>
              <a:t>flecha</a:t>
            </a:r>
            <a:r>
              <a:rPr lang="fr-FR" dirty="0">
                <a:solidFill>
                  <a:srgbClr val="000000"/>
                </a:solidFill>
                <a:highlight>
                  <a:srgbClr val="FFFFFF"/>
                </a:highlight>
                <a:latin typeface="Consolas" panose="020B0609020204030204" pitchFamily="49" charset="0"/>
              </a:rPr>
              <a:t>:</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function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calcularHechizo</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poder</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multiplicador</a:t>
            </a: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  		return </a:t>
            </a:r>
            <a:r>
              <a:rPr lang="fr-FR" dirty="0" err="1">
                <a:solidFill>
                  <a:srgbClr val="000000"/>
                </a:solidFill>
                <a:latin typeface="Consolas" panose="020B0609020204030204" pitchFamily="49" charset="0"/>
              </a:rPr>
              <a:t>poder</a:t>
            </a:r>
            <a:r>
              <a:rPr lang="fr-FR" dirty="0">
                <a:solidFill>
                  <a:srgbClr val="000000"/>
                </a:solidFill>
                <a:latin typeface="Consolas" panose="020B0609020204030204" pitchFamily="49" charset="0"/>
              </a:rPr>
              <a:t> * </a:t>
            </a:r>
            <a:r>
              <a:rPr lang="fr-FR" dirty="0" err="1">
                <a:solidFill>
                  <a:srgbClr val="000000"/>
                </a:solidFill>
                <a:latin typeface="Consolas" panose="020B0609020204030204" pitchFamily="49" charset="0"/>
              </a:rPr>
              <a:t>multiplicador</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Reto extra: Si el </a:t>
            </a:r>
            <a:r>
              <a:rPr lang="fr-FR" dirty="0" err="1">
                <a:solidFill>
                  <a:srgbClr val="000000"/>
                </a:solidFill>
                <a:latin typeface="Consolas" panose="020B0609020204030204" pitchFamily="49" charset="0"/>
              </a:rPr>
              <a:t>poder</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del</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hechizo</a:t>
            </a:r>
            <a:r>
              <a:rPr lang="fr-FR" dirty="0">
                <a:solidFill>
                  <a:srgbClr val="000000"/>
                </a:solidFill>
                <a:latin typeface="Consolas" panose="020B0609020204030204" pitchFamily="49" charset="0"/>
              </a:rPr>
              <a:t> es </a:t>
            </a:r>
            <a:r>
              <a:rPr lang="fr-FR" dirty="0" err="1">
                <a:solidFill>
                  <a:srgbClr val="000000"/>
                </a:solidFill>
                <a:latin typeface="Consolas" panose="020B0609020204030204" pitchFamily="49" charset="0"/>
              </a:rPr>
              <a:t>mayor</a:t>
            </a:r>
            <a:r>
              <a:rPr lang="fr-FR" dirty="0">
                <a:solidFill>
                  <a:srgbClr val="000000"/>
                </a:solidFill>
                <a:latin typeface="Consolas" panose="020B0609020204030204" pitchFamily="49" charset="0"/>
              </a:rPr>
              <a:t> a 100, </a:t>
            </a:r>
            <a:r>
              <a:rPr lang="fr-FR" dirty="0" err="1">
                <a:solidFill>
                  <a:srgbClr val="000000"/>
                </a:solidFill>
                <a:latin typeface="Consolas" panose="020B0609020204030204" pitchFamily="49" charset="0"/>
              </a:rPr>
              <a:t>devolver</a:t>
            </a:r>
            <a:r>
              <a:rPr lang="fr-FR" dirty="0">
                <a:solidFill>
                  <a:srgbClr val="000000"/>
                </a:solidFill>
                <a:latin typeface="Consolas" panose="020B0609020204030204" pitchFamily="49" charset="0"/>
              </a:rPr>
              <a:t> « ¡</a:t>
            </a:r>
            <a:r>
              <a:rPr lang="fr-FR" dirty="0" err="1">
                <a:solidFill>
                  <a:srgbClr val="000000"/>
                </a:solidFill>
                <a:latin typeface="Consolas" panose="020B0609020204030204" pitchFamily="49" charset="0"/>
              </a:rPr>
              <a:t>Hechizo</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prohibido</a:t>
            </a:r>
            <a:r>
              <a:rPr lang="fr-FR" dirty="0">
                <a:solidFill>
                  <a:srgbClr val="000000"/>
                </a:solidFill>
                <a:latin typeface="Consolas" panose="020B0609020204030204" pitchFamily="49" charset="0"/>
              </a:rPr>
              <a:t>! » </a:t>
            </a:r>
          </a:p>
          <a:p>
            <a:pPr marL="0" indent="0">
              <a:buNone/>
            </a:pPr>
            <a:endParaRPr lang="fr-FR" b="0" dirty="0">
              <a:solidFill>
                <a:srgbClr val="000000"/>
              </a:solidFill>
              <a:effectLst/>
              <a:highlight>
                <a:srgbClr val="FFFFFF"/>
              </a:highlight>
              <a:latin typeface="Consolas" panose="020B0609020204030204" pitchFamily="49" charset="0"/>
            </a:endParaRP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42329695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D086-7565-BAC8-24CC-8A1D4C8863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F05C80-8713-0D13-4296-DE43209F06B6}"/>
              </a:ext>
            </a:extLst>
          </p:cNvPr>
          <p:cNvSpPr>
            <a:spLocks noGrp="1"/>
          </p:cNvSpPr>
          <p:nvPr>
            <p:ph type="title"/>
          </p:nvPr>
        </p:nvSpPr>
        <p:spPr/>
        <p:txBody>
          <a:bodyPr>
            <a:normAutofit fontScale="90000"/>
          </a:bodyPr>
          <a:lstStyle/>
          <a:p>
            <a:r>
              <a:rPr lang="es-ES" dirty="0"/>
              <a:t>Ejercicios</a:t>
            </a:r>
          </a:p>
        </p:txBody>
      </p:sp>
      <p:sp>
        <p:nvSpPr>
          <p:cNvPr id="3" name="Marcador de contenido 2">
            <a:extLst>
              <a:ext uri="{FF2B5EF4-FFF2-40B4-BE49-F238E27FC236}">
                <a16:creationId xmlns:a16="http://schemas.microsoft.com/office/drawing/2014/main" id="{0AEE9FF3-284C-635E-CF28-8CE125AA738E}"/>
              </a:ext>
            </a:extLst>
          </p:cNvPr>
          <p:cNvSpPr>
            <a:spLocks noGrp="1"/>
          </p:cNvSpPr>
          <p:nvPr>
            <p:ph idx="1"/>
          </p:nvPr>
        </p:nvSpPr>
        <p:spPr>
          <a:xfrm>
            <a:off x="530200" y="989045"/>
            <a:ext cx="11058420" cy="4777273"/>
          </a:xfrm>
        </p:spPr>
        <p:txBody>
          <a:bodyPr>
            <a:normAutofit/>
          </a:bodyPr>
          <a:lstStyle/>
          <a:p>
            <a:pPr>
              <a:buFontTx/>
              <a:buChar char="-"/>
            </a:pPr>
            <a:r>
              <a:rPr lang="es-ES" dirty="0"/>
              <a:t>3- Completa la siguiente función flecha para que devuelva el nombre en mayúsculas:</a:t>
            </a:r>
          </a:p>
          <a:p>
            <a:pPr marL="0" indent="0">
              <a:buNone/>
            </a:pP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const</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gritarHechizo</a:t>
            </a:r>
            <a:r>
              <a:rPr lang="fr-FR" dirty="0">
                <a:solidFill>
                  <a:srgbClr val="000000"/>
                </a:solidFill>
                <a:latin typeface="Consolas" panose="020B0609020204030204" pitchFamily="49" charset="0"/>
              </a:rPr>
              <a:t> = (</a:t>
            </a:r>
            <a:r>
              <a:rPr lang="fr-FR" dirty="0" err="1">
                <a:solidFill>
                  <a:srgbClr val="000000"/>
                </a:solidFill>
                <a:latin typeface="Consolas" panose="020B0609020204030204" pitchFamily="49" charset="0"/>
              </a:rPr>
              <a:t>hechizo</a:t>
            </a:r>
            <a:r>
              <a:rPr lang="fr-FR" dirty="0">
                <a:solidFill>
                  <a:srgbClr val="000000"/>
                </a:solidFill>
                <a:latin typeface="Consolas" panose="020B0609020204030204" pitchFamily="49" charset="0"/>
              </a:rPr>
              <a:t>) =&gt; {</a:t>
            </a:r>
          </a:p>
          <a:p>
            <a:pPr marL="0" indent="0">
              <a:buNone/>
            </a:pP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código</a:t>
            </a:r>
            <a:r>
              <a:rPr lang="fr-FR" dirty="0">
                <a:solidFill>
                  <a:srgbClr val="000000"/>
                </a:solidFill>
                <a:latin typeface="Consolas" panose="020B0609020204030204" pitchFamily="49" charset="0"/>
              </a:rPr>
              <a:t> a </a:t>
            </a:r>
            <a:r>
              <a:rPr lang="fr-FR" dirty="0" err="1">
                <a:solidFill>
                  <a:srgbClr val="000000"/>
                </a:solidFill>
                <a:latin typeface="Consolas" panose="020B0609020204030204" pitchFamily="49" charset="0"/>
              </a:rPr>
              <a:t>completar</a:t>
            </a: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	};</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	console.log(</a:t>
            </a:r>
            <a:r>
              <a:rPr lang="fr-FR" dirty="0" err="1">
                <a:solidFill>
                  <a:srgbClr val="000000"/>
                </a:solidFill>
                <a:latin typeface="Consolas" panose="020B0609020204030204" pitchFamily="49" charset="0"/>
              </a:rPr>
              <a:t>gritarHechizo</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expelliarmus</a:t>
            </a: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	// "EXPELLIARMUS"</a:t>
            </a:r>
          </a:p>
          <a:p>
            <a:pPr marL="0" indent="0">
              <a:buNone/>
            </a:pPr>
            <a:endParaRPr lang="fr-FR" dirty="0">
              <a:solidFill>
                <a:srgbClr val="000000"/>
              </a:solidFill>
              <a:latin typeface="Consolas" panose="020B0609020204030204" pitchFamily="49" charset="0"/>
            </a:endParaRPr>
          </a:p>
          <a:p>
            <a:pPr marL="0" indent="0">
              <a:buNone/>
            </a:pPr>
            <a:endParaRPr lang="fr-FR" b="0" dirty="0">
              <a:solidFill>
                <a:srgbClr val="000000"/>
              </a:solidFill>
              <a:effectLst/>
              <a:highlight>
                <a:srgbClr val="FFFFFF"/>
              </a:highlight>
              <a:latin typeface="Consolas" panose="020B0609020204030204" pitchFamily="49" charset="0"/>
            </a:endParaRP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6048087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41406-B731-28E5-27AB-DDE8F45EE1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056F76-339D-BDCE-C1DA-EFAF88288B8D}"/>
              </a:ext>
            </a:extLst>
          </p:cNvPr>
          <p:cNvSpPr>
            <a:spLocks noGrp="1"/>
          </p:cNvSpPr>
          <p:nvPr>
            <p:ph type="title"/>
          </p:nvPr>
        </p:nvSpPr>
        <p:spPr/>
        <p:txBody>
          <a:bodyPr>
            <a:normAutofit fontScale="90000"/>
          </a:bodyPr>
          <a:lstStyle/>
          <a:p>
            <a:r>
              <a:rPr lang="es-ES" dirty="0"/>
              <a:t>Ejercicios</a:t>
            </a:r>
          </a:p>
        </p:txBody>
      </p:sp>
      <p:sp>
        <p:nvSpPr>
          <p:cNvPr id="3" name="Marcador de contenido 2">
            <a:extLst>
              <a:ext uri="{FF2B5EF4-FFF2-40B4-BE49-F238E27FC236}">
                <a16:creationId xmlns:a16="http://schemas.microsoft.com/office/drawing/2014/main" id="{D129C861-5F9C-88B6-D06A-F32BA87C4541}"/>
              </a:ext>
            </a:extLst>
          </p:cNvPr>
          <p:cNvSpPr>
            <a:spLocks noGrp="1"/>
          </p:cNvSpPr>
          <p:nvPr>
            <p:ph idx="1"/>
          </p:nvPr>
        </p:nvSpPr>
        <p:spPr>
          <a:xfrm>
            <a:off x="530200" y="989045"/>
            <a:ext cx="11058420" cy="4777273"/>
          </a:xfrm>
        </p:spPr>
        <p:txBody>
          <a:bodyPr>
            <a:normAutofit fontScale="77500" lnSpcReduction="20000"/>
          </a:bodyPr>
          <a:lstStyle/>
          <a:p>
            <a:pPr>
              <a:buFontTx/>
              <a:buChar char="-"/>
            </a:pPr>
            <a:r>
              <a:rPr lang="es-ES" dirty="0"/>
              <a:t>4- Hacer que se muestre primero el mensaje “Vengadores…” y, usando </a:t>
            </a:r>
            <a:r>
              <a:rPr lang="es-ES" dirty="0" err="1"/>
              <a:t>setTimeOut</a:t>
            </a:r>
            <a:r>
              <a:rPr lang="es-ES" dirty="0"/>
              <a:t> con una función </a:t>
            </a:r>
            <a:r>
              <a:rPr lang="es-ES" dirty="0" err="1"/>
              <a:t>callback</a:t>
            </a:r>
            <a:r>
              <a:rPr lang="es-ES" dirty="0"/>
              <a:t>, tras 3 segundos se muestre el mensaje : “¡¡REUNÍOS!!”</a:t>
            </a:r>
          </a:p>
          <a:p>
            <a:pPr marL="0" indent="0">
              <a:buNone/>
            </a:pPr>
            <a:r>
              <a:rPr lang="fr-FR" dirty="0">
                <a:solidFill>
                  <a:srgbClr val="000000"/>
                </a:solidFill>
                <a:latin typeface="Consolas" panose="020B0609020204030204" pitchFamily="49" charset="0"/>
              </a:rPr>
              <a:t>Reto extra: </a:t>
            </a:r>
            <a:r>
              <a:rPr lang="fr-FR" dirty="0" err="1">
                <a:solidFill>
                  <a:srgbClr val="000000"/>
                </a:solidFill>
                <a:latin typeface="Consolas" panose="020B0609020204030204" pitchFamily="49" charset="0"/>
              </a:rPr>
              <a:t>Pasar</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primero</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una</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función</a:t>
            </a:r>
            <a:r>
              <a:rPr lang="fr-FR" dirty="0">
                <a:solidFill>
                  <a:srgbClr val="000000"/>
                </a:solidFill>
                <a:latin typeface="Consolas" panose="020B0609020204030204" pitchFamily="49" charset="0"/>
              </a:rPr>
              <a:t> normal </a:t>
            </a:r>
            <a:r>
              <a:rPr lang="fr-FR" dirty="0" err="1">
                <a:solidFill>
                  <a:srgbClr val="000000"/>
                </a:solidFill>
                <a:latin typeface="Consolas" panose="020B0609020204030204" pitchFamily="49" charset="0"/>
              </a:rPr>
              <a:t>como</a:t>
            </a:r>
            <a:r>
              <a:rPr lang="fr-FR" dirty="0">
                <a:solidFill>
                  <a:srgbClr val="000000"/>
                </a:solidFill>
                <a:latin typeface="Consolas" panose="020B0609020204030204" pitchFamily="49" charset="0"/>
              </a:rPr>
              <a:t> callback, y </a:t>
            </a:r>
            <a:r>
              <a:rPr lang="fr-FR" dirty="0" err="1">
                <a:solidFill>
                  <a:srgbClr val="000000"/>
                </a:solidFill>
                <a:latin typeface="Consolas" panose="020B0609020204030204" pitchFamily="49" charset="0"/>
              </a:rPr>
              <a:t>luego</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usar</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una</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función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flecha</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como</a:t>
            </a:r>
            <a:r>
              <a:rPr lang="fr-FR" dirty="0">
                <a:solidFill>
                  <a:srgbClr val="000000"/>
                </a:solidFill>
                <a:latin typeface="Consolas" panose="020B0609020204030204" pitchFamily="49" charset="0"/>
              </a:rPr>
              <a:t> callback</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5- </a:t>
            </a:r>
            <a:r>
              <a:rPr lang="fr-FR" dirty="0" err="1">
                <a:solidFill>
                  <a:srgbClr val="000000"/>
                </a:solidFill>
                <a:latin typeface="Consolas" panose="020B0609020204030204" pitchFamily="49" charset="0"/>
              </a:rPr>
              <a:t>Teniendo</a:t>
            </a:r>
            <a:r>
              <a:rPr lang="fr-FR" dirty="0">
                <a:solidFill>
                  <a:srgbClr val="000000"/>
                </a:solidFill>
                <a:latin typeface="Consolas" panose="020B0609020204030204" pitchFamily="49" charset="0"/>
              </a:rPr>
              <a:t> el </a:t>
            </a:r>
            <a:r>
              <a:rPr lang="fr-FR" dirty="0" err="1">
                <a:solidFill>
                  <a:srgbClr val="000000"/>
                </a:solidFill>
                <a:latin typeface="Consolas" panose="020B0609020204030204" pitchFamily="49" charset="0"/>
              </a:rPr>
              <a:t>siguiente</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array</a:t>
            </a:r>
            <a:r>
              <a:rPr lang="fr-FR" dirty="0">
                <a:solidFill>
                  <a:srgbClr val="000000"/>
                </a:solidFill>
                <a:latin typeface="Consolas" panose="020B0609020204030204" pitchFamily="49" charset="0"/>
              </a:rPr>
              <a:t> con </a:t>
            </a:r>
            <a:r>
              <a:rPr lang="fr-FR" dirty="0" err="1">
                <a:solidFill>
                  <a:srgbClr val="000000"/>
                </a:solidFill>
                <a:latin typeface="Consolas" panose="020B0609020204030204" pitchFamily="49" charset="0"/>
              </a:rPr>
              <a:t>personajes</a:t>
            </a:r>
            <a:r>
              <a:rPr lang="fr-FR" dirty="0">
                <a:solidFill>
                  <a:srgbClr val="000000"/>
                </a:solidFill>
                <a:latin typeface="Consolas" panose="020B0609020204030204" pitchFamily="49" charset="0"/>
              </a:rPr>
              <a:t> de Marvel, </a:t>
            </a:r>
            <a:r>
              <a:rPr lang="fr-FR" dirty="0" err="1">
                <a:solidFill>
                  <a:srgbClr val="000000"/>
                </a:solidFill>
                <a:latin typeface="Consolas" panose="020B0609020204030204" pitchFamily="49" charset="0"/>
              </a:rPr>
              <a:t>usar</a:t>
            </a:r>
            <a:r>
              <a:rPr lang="fr-FR" dirty="0">
                <a:solidFill>
                  <a:srgbClr val="000000"/>
                </a:solidFill>
                <a:latin typeface="Consolas" panose="020B0609020204030204" pitchFamily="49" charset="0"/>
              </a:rPr>
              <a:t> la </a:t>
            </a:r>
            <a:r>
              <a:rPr lang="fr-FR" dirty="0" err="1">
                <a:solidFill>
                  <a:srgbClr val="000000"/>
                </a:solidFill>
                <a:latin typeface="Consolas" panose="020B0609020204030204" pitchFamily="49" charset="0"/>
              </a:rPr>
              <a:t>función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map</a:t>
            </a:r>
            <a:r>
              <a:rPr lang="fr-FR" dirty="0">
                <a:solidFill>
                  <a:srgbClr val="000000"/>
                </a:solidFill>
                <a:latin typeface="Consolas" panose="020B0609020204030204" pitchFamily="49" charset="0"/>
              </a:rPr>
              <a:t> con </a:t>
            </a:r>
            <a:r>
              <a:rPr lang="fr-FR" dirty="0" err="1">
                <a:solidFill>
                  <a:srgbClr val="000000"/>
                </a:solidFill>
                <a:latin typeface="Consolas" panose="020B0609020204030204" pitchFamily="49" charset="0"/>
              </a:rPr>
              <a:t>una</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función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flecha</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como</a:t>
            </a:r>
            <a:r>
              <a:rPr lang="fr-FR" dirty="0">
                <a:solidFill>
                  <a:srgbClr val="000000"/>
                </a:solidFill>
                <a:latin typeface="Consolas" panose="020B0609020204030204" pitchFamily="49" charset="0"/>
              </a:rPr>
              <a:t> callback para </a:t>
            </a:r>
            <a:r>
              <a:rPr lang="fr-FR" dirty="0" err="1">
                <a:solidFill>
                  <a:srgbClr val="000000"/>
                </a:solidFill>
                <a:latin typeface="Consolas" panose="020B0609020204030204" pitchFamily="49" charset="0"/>
              </a:rPr>
              <a:t>obtener</a:t>
            </a:r>
            <a:r>
              <a:rPr lang="fr-FR" dirty="0">
                <a:solidFill>
                  <a:srgbClr val="000000"/>
                </a:solidFill>
                <a:latin typeface="Consolas" panose="020B0609020204030204" pitchFamily="49" charset="0"/>
              </a:rPr>
              <a:t> un </a:t>
            </a:r>
            <a:r>
              <a:rPr lang="fr-FR" dirty="0" err="1">
                <a:solidFill>
                  <a:srgbClr val="000000"/>
                </a:solidFill>
                <a:latin typeface="Consolas" panose="020B0609020204030204" pitchFamily="49" charset="0"/>
              </a:rPr>
              <a:t>nuevo</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array</a:t>
            </a:r>
            <a:r>
              <a:rPr lang="fr-FR" dirty="0">
                <a:solidFill>
                  <a:srgbClr val="000000"/>
                </a:solidFill>
                <a:latin typeface="Consolas" panose="020B0609020204030204" pitchFamily="49" charset="0"/>
              </a:rPr>
              <a:t> con el </a:t>
            </a:r>
            <a:r>
              <a:rPr lang="fr-FR" dirty="0" err="1">
                <a:solidFill>
                  <a:srgbClr val="000000"/>
                </a:solidFill>
                <a:latin typeface="Consolas" panose="020B0609020204030204" pitchFamily="49" charset="0"/>
              </a:rPr>
              <a:t>siguiente</a:t>
            </a:r>
            <a:r>
              <a:rPr lang="fr-FR" dirty="0">
                <a:solidFill>
                  <a:srgbClr val="000000"/>
                </a:solidFill>
                <a:latin typeface="Consolas" panose="020B0609020204030204" pitchFamily="49" charset="0"/>
              </a:rPr>
              <a:t> texto: « nombre es un </a:t>
            </a:r>
            <a:r>
              <a:rPr lang="fr-FR" dirty="0" err="1">
                <a:solidFill>
                  <a:srgbClr val="000000"/>
                </a:solidFill>
                <a:latin typeface="Consolas" panose="020B0609020204030204" pitchFamily="49" charset="0"/>
              </a:rPr>
              <a:t>Vengador</a:t>
            </a:r>
            <a:r>
              <a:rPr lang="fr-FR" dirty="0">
                <a:solidFill>
                  <a:srgbClr val="000000"/>
                </a:solidFill>
                <a:latin typeface="Consolas" panose="020B0609020204030204" pitchFamily="49" charset="0"/>
              </a:rPr>
              <a:t> »</a:t>
            </a:r>
          </a:p>
          <a:p>
            <a:pPr marL="0" indent="0">
              <a:buNone/>
            </a:pPr>
            <a:r>
              <a:rPr lang="fr-FR" dirty="0" err="1">
                <a:solidFill>
                  <a:srgbClr val="000000"/>
                </a:solidFill>
                <a:latin typeface="Consolas" panose="020B0609020204030204" pitchFamily="49" charset="0"/>
              </a:rPr>
              <a:t>const</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heroes</a:t>
            </a:r>
            <a:r>
              <a:rPr lang="fr-FR" dirty="0">
                <a:solidFill>
                  <a:srgbClr val="000000"/>
                </a:solidFill>
                <a:latin typeface="Consolas" panose="020B0609020204030204" pitchFamily="49" charset="0"/>
              </a:rPr>
              <a:t> = ["</a:t>
            </a:r>
            <a:r>
              <a:rPr lang="fr-FR" dirty="0" err="1">
                <a:solidFill>
                  <a:srgbClr val="000000"/>
                </a:solidFill>
                <a:latin typeface="Consolas" panose="020B0609020204030204" pitchFamily="49" charset="0"/>
              </a:rPr>
              <a:t>Iron</a:t>
            </a:r>
            <a:r>
              <a:rPr lang="fr-FR" dirty="0">
                <a:solidFill>
                  <a:srgbClr val="000000"/>
                </a:solidFill>
                <a:latin typeface="Consolas" panose="020B0609020204030204" pitchFamily="49" charset="0"/>
              </a:rPr>
              <a:t> Man", "Spider-Man", "Thor", "Hulk"]; </a:t>
            </a:r>
          </a:p>
          <a:p>
            <a:pPr marL="0" indent="0">
              <a:buNone/>
            </a:pPr>
            <a:r>
              <a:rPr lang="es-ES" dirty="0">
                <a:solidFill>
                  <a:srgbClr val="000000"/>
                </a:solidFill>
                <a:latin typeface="Consolas" panose="020B0609020204030204" pitchFamily="49" charset="0"/>
              </a:rPr>
              <a:t>[</a:t>
            </a:r>
          </a:p>
          <a:p>
            <a:pPr marL="0" indent="0">
              <a:buNone/>
            </a:pPr>
            <a:r>
              <a:rPr lang="es-ES" dirty="0">
                <a:solidFill>
                  <a:srgbClr val="000000"/>
                </a:solidFill>
                <a:latin typeface="Consolas" panose="020B0609020204030204" pitchFamily="49" charset="0"/>
              </a:rPr>
              <a:t>  "</a:t>
            </a:r>
            <a:r>
              <a:rPr lang="es-ES" dirty="0" err="1">
                <a:solidFill>
                  <a:srgbClr val="000000"/>
                </a:solidFill>
                <a:latin typeface="Consolas" panose="020B0609020204030204" pitchFamily="49" charset="0"/>
              </a:rPr>
              <a:t>Iron</a:t>
            </a:r>
            <a:r>
              <a:rPr lang="es-ES" dirty="0">
                <a:solidFill>
                  <a:srgbClr val="000000"/>
                </a:solidFill>
                <a:latin typeface="Consolas" panose="020B0609020204030204" pitchFamily="49" charset="0"/>
              </a:rPr>
              <a:t> Man es un Vengador",</a:t>
            </a:r>
          </a:p>
          <a:p>
            <a:pPr marL="0" indent="0">
              <a:buNone/>
            </a:pPr>
            <a:r>
              <a:rPr lang="es-ES" dirty="0">
                <a:solidFill>
                  <a:srgbClr val="000000"/>
                </a:solidFill>
                <a:latin typeface="Consolas" panose="020B0609020204030204" pitchFamily="49" charset="0"/>
              </a:rPr>
              <a:t>  "Spider-Man es un Vengador",</a:t>
            </a:r>
          </a:p>
          <a:p>
            <a:pPr marL="0" indent="0">
              <a:buNone/>
            </a:pPr>
            <a:r>
              <a:rPr lang="es-ES" dirty="0">
                <a:solidFill>
                  <a:srgbClr val="000000"/>
                </a:solidFill>
                <a:latin typeface="Consolas" panose="020B0609020204030204" pitchFamily="49" charset="0"/>
              </a:rPr>
              <a:t>  "Thor es un Vengador",</a:t>
            </a:r>
          </a:p>
          <a:p>
            <a:pPr marL="0" indent="0">
              <a:buNone/>
            </a:pPr>
            <a:r>
              <a:rPr lang="es-ES" dirty="0">
                <a:solidFill>
                  <a:srgbClr val="000000"/>
                </a:solidFill>
                <a:latin typeface="Consolas" panose="020B0609020204030204" pitchFamily="49" charset="0"/>
              </a:rPr>
              <a:t>  "Hulk es un Vengador"</a:t>
            </a:r>
          </a:p>
          <a:p>
            <a:pPr marL="0" indent="0">
              <a:buNone/>
            </a:pPr>
            <a:r>
              <a:rPr lang="es-ES" dirty="0">
                <a:solidFill>
                  <a:srgbClr val="000000"/>
                </a:solidFill>
                <a:latin typeface="Consolas" panose="020B0609020204030204" pitchFamily="49" charset="0"/>
              </a:rPr>
              <a:t>] </a:t>
            </a:r>
            <a:r>
              <a:rPr lang="fr-FR" dirty="0">
                <a:solidFill>
                  <a:srgbClr val="000000"/>
                </a:solidFill>
                <a:latin typeface="Consolas" panose="020B0609020204030204" pitchFamily="49" charset="0"/>
              </a:rPr>
              <a:t>	</a:t>
            </a:r>
          </a:p>
          <a:p>
            <a:pPr marL="0" indent="0">
              <a:buNone/>
            </a:pPr>
            <a:endParaRPr lang="fr-FR" b="0" dirty="0">
              <a:solidFill>
                <a:srgbClr val="000000"/>
              </a:solidFill>
              <a:effectLst/>
              <a:highlight>
                <a:srgbClr val="FFFFFF"/>
              </a:highlight>
              <a:latin typeface="Consolas" panose="020B0609020204030204" pitchFamily="49" charset="0"/>
            </a:endParaRPr>
          </a:p>
          <a:p>
            <a:pPr>
              <a:buFontTx/>
              <a:buChar char="-"/>
            </a:pPr>
            <a:endParaRPr lang="es-ES" dirty="0"/>
          </a:p>
          <a:p>
            <a:pPr>
              <a:buFontTx/>
              <a:buChar char="-"/>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13924136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02723"/>
      </p:ext>
    </p:extLst>
  </p:cSld>
  <p:clrMapOvr>
    <a:masterClrMapping/>
  </p:clrMapOvr>
</p:sld>
</file>

<file path=ppt/theme/theme1.xml><?xml version="1.0" encoding="utf-8"?>
<a:theme xmlns:a="http://schemas.openxmlformats.org/drawingml/2006/main" name="Tema de Office">
  <a:themeElements>
    <a:clrScheme name="NEBRIJA corporativo">
      <a:dk1>
        <a:srgbClr val="000000"/>
      </a:dk1>
      <a:lt1>
        <a:srgbClr val="FFFFFF"/>
      </a:lt1>
      <a:dk2>
        <a:srgbClr val="C2002F"/>
      </a:dk2>
      <a:lt2>
        <a:srgbClr val="F8F8F8"/>
      </a:lt2>
      <a:accent1>
        <a:srgbClr val="C2002F"/>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4" id="{4B0CD903-045B-3748-9334-78DE6C8078C0}" vid="{88DE45E9-3DF5-1143-9A6E-03520CCBD06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 1</Template>
  <TotalTime>2013</TotalTime>
  <Words>6168</Words>
  <Application>Microsoft Office PowerPoint</Application>
  <PresentationFormat>Panorámica</PresentationFormat>
  <Paragraphs>1488</Paragraphs>
  <Slides>86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86</vt:i4>
      </vt:variant>
    </vt:vector>
  </HeadingPairs>
  <TitlesOfParts>
    <vt:vector size="91" baseType="lpstr">
      <vt:lpstr>Arial</vt:lpstr>
      <vt:lpstr>Calibri</vt:lpstr>
      <vt:lpstr>Consolas</vt:lpstr>
      <vt:lpstr>LucidaGrande</vt:lpstr>
      <vt:lpstr>Tema de Office</vt:lpstr>
      <vt:lpstr>2. Fundamentos de JavaScript, </vt:lpstr>
      <vt:lpstr>Índice</vt:lpstr>
      <vt:lpstr>2.1 – ¿Qué es JavaScript?</vt:lpstr>
      <vt:lpstr>2.2 – ¿Cómo funciona JavaScript?</vt:lpstr>
      <vt:lpstr>2.2 – ¿Cómo funciona JavaScript?</vt:lpstr>
      <vt:lpstr>2.3 – Comenzando a codificar JavaScript</vt:lpstr>
      <vt:lpstr>2.3 – Comenzando a codificar JavaScript</vt:lpstr>
      <vt:lpstr>2.3 – Comenzando a codificar JavaScript</vt:lpstr>
      <vt:lpstr>2.3 – Comenzando a codificar JavaScript</vt:lpstr>
      <vt:lpstr>2.3 – Variables en JavaScript</vt:lpstr>
      <vt:lpstr>2.3 – Variables en JavaScript</vt:lpstr>
      <vt:lpstr>2.3 – Variables en JavaScript</vt:lpstr>
      <vt:lpstr>2.3 – Variables en JavaScript</vt:lpstr>
      <vt:lpstr>2.3 – Variables en JavaScript</vt:lpstr>
      <vt:lpstr>2.3 – Variables en JavaScript</vt:lpstr>
      <vt:lpstr>2.4 – Accediendo a un carácter de un String</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2.5 – Arrays en JavaScript</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Funciones normales, funciones flecha y callbacks</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vt:lpstr>
      <vt:lpstr>2.6 – Programación funcional (Ejercicios)</vt:lpstr>
      <vt:lpstr>2.6 – Programación funcional (Ejercicios)</vt:lpstr>
      <vt:lpstr>2.6 – Programación funcional (Ejercicios)</vt:lpstr>
      <vt:lpstr>2.6 – Programación funcional (Ejercicios)</vt:lpstr>
      <vt:lpstr>2.6 – Programación funcional (Ejercicios)</vt:lpstr>
      <vt:lpstr>2.6 – Programación funcional (Ejercicios, soluciones)</vt:lpstr>
      <vt:lpstr>2.6 – Programación funcional (Ejercicios, soluciones)</vt:lpstr>
      <vt:lpstr>2.6 – Programación funcional (Ejercicios, soluciones)</vt:lpstr>
      <vt:lpstr>2.6 – Programación funcional (Ejercicios, soluciones)</vt:lpstr>
      <vt:lpstr>2.6 – Programación funcional (Ejercicios, soluciones)</vt:lpstr>
      <vt:lpstr>2.6 – Programación funcional (Ejercicios, soluciones)</vt:lpstr>
      <vt:lpstr>2.7 – Funciones en JavaScript</vt:lpstr>
      <vt:lpstr>2.7 – Funciones en JavaScript</vt:lpstr>
      <vt:lpstr>2.8 – Otro tipo de estructuras en JavaScript</vt:lpstr>
      <vt:lpstr>2.8 – Otro tipo de estructuras en JavaScript</vt:lpstr>
      <vt:lpstr>2.9 – Rest y Spread</vt:lpstr>
      <vt:lpstr>2.9 – Rest y Spread</vt:lpstr>
      <vt:lpstr>2.10 – Desestructuración de arrays</vt:lpstr>
      <vt:lpstr>2.10 – Copia de arrays</vt:lpstr>
      <vt:lpstr>Ejercicios</vt:lpstr>
      <vt:lpstr>Ejercicios</vt:lpstr>
      <vt:lpstr>Ejercicios</vt:lpstr>
      <vt:lpstr>Ejercicios</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Lenguaje de Marcas</dc:title>
  <dc:subject/>
  <dc:creator>Francisco Albiar</dc:creator>
  <cp:keywords/>
  <dc:description/>
  <cp:lastModifiedBy>FRANCISCO ALBIAR JIMENEZ</cp:lastModifiedBy>
  <cp:revision>117</cp:revision>
  <dcterms:created xsi:type="dcterms:W3CDTF">2023-09-23T11:44:19Z</dcterms:created>
  <dcterms:modified xsi:type="dcterms:W3CDTF">2025-10-23T18:11:08Z</dcterms:modified>
  <cp:category/>
</cp:coreProperties>
</file>